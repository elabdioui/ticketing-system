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6"/>
  </p:notesMasterIdLst>
  <p:handoutMasterIdLst>
    <p:handoutMasterId r:id="rId27"/>
  </p:handoutMasterIdLst>
  <p:sldIdLst>
    <p:sldId id="256" r:id="rId5"/>
    <p:sldId id="297" r:id="rId6"/>
    <p:sldId id="327" r:id="rId7"/>
    <p:sldId id="328" r:id="rId8"/>
    <p:sldId id="302" r:id="rId9"/>
    <p:sldId id="301" r:id="rId10"/>
    <p:sldId id="305" r:id="rId11"/>
    <p:sldId id="306" r:id="rId12"/>
    <p:sldId id="307" r:id="rId13"/>
    <p:sldId id="308" r:id="rId14"/>
    <p:sldId id="309" r:id="rId15"/>
    <p:sldId id="310" r:id="rId16"/>
    <p:sldId id="311" r:id="rId17"/>
    <p:sldId id="312" r:id="rId18"/>
    <p:sldId id="313" r:id="rId19"/>
    <p:sldId id="296" r:id="rId20"/>
    <p:sldId id="303" r:id="rId21"/>
    <p:sldId id="304" r:id="rId22"/>
    <p:sldId id="314" r:id="rId23"/>
    <p:sldId id="325" r:id="rId24"/>
    <p:sldId id="326" r:id="rId25"/>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4866" autoAdjust="0"/>
  </p:normalViewPr>
  <p:slideViewPr>
    <p:cSldViewPr snapToGrid="0">
      <p:cViewPr varScale="1">
        <p:scale>
          <a:sx n="59" d="100"/>
          <a:sy n="59" d="100"/>
        </p:scale>
        <p:origin x="1176" y="7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3882" y="13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996F3730-8562-4D7F-A2D1-B258C4FC42CB}" type="datetime1">
              <a:rPr lang="fr-FR" smtClean="0"/>
              <a:t>20/05/2025</a:t>
            </a:fld>
            <a:endParaRPr lang="fr-FR"/>
          </a:p>
        </p:txBody>
      </p:sp>
      <p:sp>
        <p:nvSpPr>
          <p:cNvPr id="4" name="Espace réservé du pied de page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fr-FR" smtClean="0"/>
              <a:t>‹N°›</a:t>
            </a:fld>
            <a:endParaRPr lang="fr-FR"/>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8B237-C4D2-43EE-AC18-AA163EB3D7BC}" type="datetime1">
              <a:rPr lang="fr-FR" smtClean="0"/>
              <a:pPr/>
              <a:t>20/05/2025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fr-FR" noProof="0" smtClean="0"/>
              <a:t>‹N°›</a:t>
            </a:fld>
            <a:endParaRPr lang="fr-FR"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Bonjour à tous. Aujourd’hui, je vais vous présenter mon projet de fin d’année intitulé </a:t>
            </a:r>
            <a:r>
              <a:rPr lang="fr-FR" i="1" dirty="0"/>
              <a:t>"Application web de messagerie en temps réel</a:t>
            </a:r>
            <a:endParaRPr lang="fr-FR" dirty="0"/>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FR" smtClean="0"/>
              <a:t>1</a:t>
            </a:fld>
            <a:endParaRPr lang="fr-FR"/>
          </a:p>
        </p:txBody>
      </p:sp>
    </p:spTree>
    <p:extLst>
      <p:ext uri="{BB962C8B-B14F-4D97-AF65-F5344CB8AC3E}">
        <p14:creationId xmlns:p14="http://schemas.microsoft.com/office/powerpoint/2010/main" val="2637011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439B5-24E1-6E36-80D0-7D78111B661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13F4B38-229B-E404-3431-DFDDC72595F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0EA1633-BB08-FC16-674E-F2D309EC02D4}"/>
              </a:ext>
            </a:extLst>
          </p:cNvPr>
          <p:cNvSpPr>
            <a:spLocks noGrp="1"/>
          </p:cNvSpPr>
          <p:nvPr>
            <p:ph type="body" idx="1"/>
          </p:nvPr>
        </p:nvSpPr>
        <p:spPr/>
        <p:txBody>
          <a:bodyPr/>
          <a:lstStyle/>
          <a:p>
            <a:r>
              <a:rPr lang="fr-FR" dirty="0"/>
              <a:t>Voici le plan que je vais suivre pour cette présentation.</a:t>
            </a:r>
            <a:br>
              <a:rPr lang="fr-FR" dirty="0"/>
            </a:br>
            <a:r>
              <a:rPr lang="fr-FR" dirty="0"/>
              <a:t>Je commencerai par une introduction générale du projet, puis je présenterai le contexte et la problématique à laquelle il répond.</a:t>
            </a:r>
            <a:br>
              <a:rPr lang="fr-FR" dirty="0"/>
            </a:br>
            <a:r>
              <a:rPr lang="fr-FR" dirty="0"/>
              <a:t>Ensuite, je passerai aux objectifs, à la solution proposée, et aux technologies utilisées.</a:t>
            </a:r>
            <a:br>
              <a:rPr lang="fr-FR" dirty="0"/>
            </a:br>
            <a:r>
              <a:rPr lang="fr-FR" dirty="0"/>
              <a:t>Je vous montrerai ensuite la partie conception, suivie d’une démonstration de l’application.</a:t>
            </a:r>
            <a:br>
              <a:rPr lang="fr-FR" dirty="0"/>
            </a:br>
            <a:r>
              <a:rPr lang="fr-FR" dirty="0"/>
              <a:t>Enfin, je terminerai par une conclusion </a:t>
            </a:r>
          </a:p>
        </p:txBody>
      </p:sp>
      <p:sp>
        <p:nvSpPr>
          <p:cNvPr id="4" name="Espace réservé du numéro de diapositive 3">
            <a:extLst>
              <a:ext uri="{FF2B5EF4-FFF2-40B4-BE49-F238E27FC236}">
                <a16:creationId xmlns:a16="http://schemas.microsoft.com/office/drawing/2014/main" id="{6555B16A-49EB-52D9-57EE-249C0020D262}"/>
              </a:ext>
            </a:extLst>
          </p:cNvPr>
          <p:cNvSpPr>
            <a:spLocks noGrp="1"/>
          </p:cNvSpPr>
          <p:nvPr>
            <p:ph type="sldNum" sz="quarter" idx="5"/>
          </p:nvPr>
        </p:nvSpPr>
        <p:spPr/>
        <p:txBody>
          <a:bodyPr/>
          <a:lstStyle/>
          <a:p>
            <a:pPr rtl="0"/>
            <a:fld id="{D4B9A9E5-4F7F-4A7D-9DE1-899232329269}" type="slidenum">
              <a:rPr lang="fr-FR" smtClean="0"/>
              <a:t>2</a:t>
            </a:fld>
            <a:endParaRPr lang="fr-FR"/>
          </a:p>
        </p:txBody>
      </p:sp>
    </p:spTree>
    <p:extLst>
      <p:ext uri="{BB962C8B-B14F-4D97-AF65-F5344CB8AC3E}">
        <p14:creationId xmlns:p14="http://schemas.microsoft.com/office/powerpoint/2010/main" val="3366253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AF056-AE9F-7728-3674-5BEAB6D3081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062DD38-649A-7DC9-9F5A-0E96B3631D1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9EFC732-4F57-FE27-3FD9-750C02E74B6E}"/>
              </a:ext>
            </a:extLst>
          </p:cNvPr>
          <p:cNvSpPr>
            <a:spLocks noGrp="1"/>
          </p:cNvSpPr>
          <p:nvPr>
            <p:ph type="body" idx="1"/>
          </p:nvPr>
        </p:nvSpPr>
        <p:spPr/>
        <p:txBody>
          <a:bodyPr/>
          <a:lstStyle/>
          <a:p>
            <a:pPr>
              <a:lnSpc>
                <a:spcPct val="140000"/>
              </a:lnSpc>
              <a:spcBef>
                <a:spcPts val="1000"/>
              </a:spcBef>
            </a:pPr>
            <a:r>
              <a:rPr lang="fr-FR" sz="1200" spc="50" dirty="0">
                <a:solidFill>
                  <a:schemeClr val="tx1">
                    <a:lumMod val="75000"/>
                    <a:lumOff val="25000"/>
                  </a:schemeClr>
                </a:solidFill>
              </a:rPr>
              <a:t>Aujourd’hui, la messagerie instantanée est devenue un moyen incontournable de communication, aussi bien dans la vie personnelle que professionnelle.</a:t>
            </a:r>
            <a:br>
              <a:rPr lang="fr-FR" sz="1200" spc="50" dirty="0">
                <a:solidFill>
                  <a:schemeClr val="tx1">
                    <a:lumMod val="75000"/>
                    <a:lumOff val="25000"/>
                  </a:schemeClr>
                </a:solidFill>
              </a:rPr>
            </a:br>
            <a:r>
              <a:rPr lang="fr-FR" sz="1200" spc="50" dirty="0">
                <a:solidFill>
                  <a:schemeClr val="tx1">
                    <a:lumMod val="75000"/>
                    <a:lumOff val="25000"/>
                  </a:schemeClr>
                </a:solidFill>
              </a:rPr>
              <a:t>Mais les applications existantes posent souvent des problèmes de confidentialité et de contrôle.</a:t>
            </a:r>
            <a:br>
              <a:rPr lang="fr-FR" sz="1200" spc="50" dirty="0">
                <a:solidFill>
                  <a:schemeClr val="tx1">
                    <a:lumMod val="75000"/>
                    <a:lumOff val="25000"/>
                  </a:schemeClr>
                </a:solidFill>
              </a:rPr>
            </a:br>
            <a:r>
              <a:rPr lang="fr-FR" sz="1200" spc="50" dirty="0">
                <a:solidFill>
                  <a:schemeClr val="tx1">
                    <a:lumMod val="75000"/>
                    <a:lumOff val="25000"/>
                  </a:schemeClr>
                </a:solidFill>
              </a:rPr>
              <a:t>Ce projet vise à développer une application web de messagerie en temps réel, avec des échanges sécurisés, limités aux utilisateurs connectés par une relation validée.</a:t>
            </a:r>
          </a:p>
        </p:txBody>
      </p:sp>
      <p:sp>
        <p:nvSpPr>
          <p:cNvPr id="4" name="Espace réservé du numéro de diapositive 3">
            <a:extLst>
              <a:ext uri="{FF2B5EF4-FFF2-40B4-BE49-F238E27FC236}">
                <a16:creationId xmlns:a16="http://schemas.microsoft.com/office/drawing/2014/main" id="{73DAB892-D9CC-6AE4-5E7E-DE5FC073814D}"/>
              </a:ext>
            </a:extLst>
          </p:cNvPr>
          <p:cNvSpPr>
            <a:spLocks noGrp="1"/>
          </p:cNvSpPr>
          <p:nvPr>
            <p:ph type="sldNum" sz="quarter" idx="5"/>
          </p:nvPr>
        </p:nvSpPr>
        <p:spPr/>
        <p:txBody>
          <a:bodyPr/>
          <a:lstStyle/>
          <a:p>
            <a:pPr rtl="0"/>
            <a:fld id="{D4B9A9E5-4F7F-4A7D-9DE1-899232329269}" type="slidenum">
              <a:rPr lang="fr-FR" smtClean="0"/>
              <a:t>3</a:t>
            </a:fld>
            <a:endParaRPr lang="fr-FR"/>
          </a:p>
        </p:txBody>
      </p:sp>
    </p:spTree>
    <p:extLst>
      <p:ext uri="{BB962C8B-B14F-4D97-AF65-F5344CB8AC3E}">
        <p14:creationId xmlns:p14="http://schemas.microsoft.com/office/powerpoint/2010/main" val="4214383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32B3E-0903-2B9E-61C2-34EF82B0A79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0D95294-58D8-F2CB-56C8-1B8FA04B0FA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AE4F07F-7FC9-C659-E885-59288400D66A}"/>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E698315-CAC6-B452-F951-78869B297249}"/>
              </a:ext>
            </a:extLst>
          </p:cNvPr>
          <p:cNvSpPr>
            <a:spLocks noGrp="1"/>
          </p:cNvSpPr>
          <p:nvPr>
            <p:ph type="sldNum" sz="quarter" idx="5"/>
          </p:nvPr>
        </p:nvSpPr>
        <p:spPr/>
        <p:txBody>
          <a:bodyPr/>
          <a:lstStyle/>
          <a:p>
            <a:pPr rtl="0"/>
            <a:fld id="{D4B9A9E5-4F7F-4A7D-9DE1-899232329269}" type="slidenum">
              <a:rPr lang="fr-FR" smtClean="0"/>
              <a:t>4</a:t>
            </a:fld>
            <a:endParaRPr lang="fr-FR"/>
          </a:p>
        </p:txBody>
      </p:sp>
    </p:spTree>
    <p:extLst>
      <p:ext uri="{BB962C8B-B14F-4D97-AF65-F5344CB8AC3E}">
        <p14:creationId xmlns:p14="http://schemas.microsoft.com/office/powerpoint/2010/main" val="981845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C0E03-E4F5-EC95-E19F-16529416490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7D31187-B020-253E-A9E2-0B2ED23048B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59CC15B-1318-0BFE-6757-EC02BD56C215}"/>
              </a:ext>
            </a:extLst>
          </p:cNvPr>
          <p:cNvSpPr>
            <a:spLocks noGrp="1"/>
          </p:cNvSpPr>
          <p:nvPr>
            <p:ph type="body" idx="1"/>
          </p:nvPr>
        </p:nvSpPr>
        <p:spPr/>
        <p:txBody>
          <a:bodyPr/>
          <a:lstStyle/>
          <a:p>
            <a:r>
              <a:rPr lang="fr-FR" dirty="0"/>
              <a:t>Aujourd’hui, on parle beaucoup en ligne, mais ce n’est pas toujours privé.</a:t>
            </a:r>
            <a:br>
              <a:rPr lang="fr-FR" dirty="0"/>
            </a:br>
            <a:r>
              <a:rPr lang="fr-FR" dirty="0"/>
              <a:t>N’importe qui peut nous envoyer un message, nos publications sont souvent visibles par tout le monde, et nos infos sont parfois utilisées sans qu’on le sache.</a:t>
            </a:r>
            <a:br>
              <a:rPr lang="fr-FR" dirty="0"/>
            </a:br>
            <a:r>
              <a:rPr lang="fr-FR" dirty="0"/>
              <a:t>Mon projet veut créer une appli où on peut parler seulement avec les personnes qu’on a acceptées, où les messages et les publications sont vraiment privés.</a:t>
            </a:r>
          </a:p>
        </p:txBody>
      </p:sp>
      <p:sp>
        <p:nvSpPr>
          <p:cNvPr id="4" name="Espace réservé du numéro de diapositive 3">
            <a:extLst>
              <a:ext uri="{FF2B5EF4-FFF2-40B4-BE49-F238E27FC236}">
                <a16:creationId xmlns:a16="http://schemas.microsoft.com/office/drawing/2014/main" id="{350820E0-0330-B2BD-5493-3D5983862419}"/>
              </a:ext>
            </a:extLst>
          </p:cNvPr>
          <p:cNvSpPr>
            <a:spLocks noGrp="1"/>
          </p:cNvSpPr>
          <p:nvPr>
            <p:ph type="sldNum" sz="quarter" idx="5"/>
          </p:nvPr>
        </p:nvSpPr>
        <p:spPr/>
        <p:txBody>
          <a:bodyPr/>
          <a:lstStyle/>
          <a:p>
            <a:pPr rtl="0"/>
            <a:fld id="{D4B9A9E5-4F7F-4A7D-9DE1-899232329269}" type="slidenum">
              <a:rPr lang="fr-FR" smtClean="0"/>
              <a:t>5</a:t>
            </a:fld>
            <a:endParaRPr lang="fr-FR"/>
          </a:p>
        </p:txBody>
      </p:sp>
    </p:spTree>
    <p:extLst>
      <p:ext uri="{BB962C8B-B14F-4D97-AF65-F5344CB8AC3E}">
        <p14:creationId xmlns:p14="http://schemas.microsoft.com/office/powerpoint/2010/main" val="3069364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3820B-D96C-E785-601B-3C7E94A677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1A4AA2-B7AD-1451-FA11-DB261B34A9D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D8BC31C-F793-B9F7-E871-486BF005E649}"/>
              </a:ext>
            </a:extLst>
          </p:cNvPr>
          <p:cNvSpPr>
            <a:spLocks noGrp="1"/>
          </p:cNvSpPr>
          <p:nvPr>
            <p:ph type="body" idx="1"/>
          </p:nvPr>
        </p:nvSpPr>
        <p:spPr/>
        <p:txBody>
          <a:bodyPr/>
          <a:lstStyle/>
          <a:p>
            <a:r>
              <a:rPr lang="fr-FR" dirty="0"/>
              <a:t>L’objectif du projet est de créer une application web de messagerie en temps réel, qui offre un espace privé et sécurisé.</a:t>
            </a:r>
            <a:br>
              <a:rPr lang="fr-FR" dirty="0"/>
            </a:br>
            <a:r>
              <a:rPr lang="fr-FR" dirty="0"/>
              <a:t>Les utilisateurs peuvent créer un compte, envoyer des invitations, et discuter uniquement avec les personnes qu’ils ont approuvées.</a:t>
            </a:r>
            <a:br>
              <a:rPr lang="fr-FR" dirty="0"/>
            </a:br>
            <a:r>
              <a:rPr lang="fr-FR" dirty="0"/>
              <a:t>L’application combine messagerie instantanée, publications privées, et création de groupes, tout en gardant un contrôle total sur la confidentialité.</a:t>
            </a:r>
          </a:p>
          <a:p>
            <a:r>
              <a:rPr lang="fr-FR" dirty="0"/>
              <a:t>Pour la partie technique, j’ai utilisé </a:t>
            </a:r>
            <a:r>
              <a:rPr lang="fr-FR" dirty="0" err="1"/>
              <a:t>Laravel</a:t>
            </a:r>
            <a:r>
              <a:rPr lang="fr-FR" dirty="0"/>
              <a:t> pour développer l’application, MySQL pour la base de données, et Pusher pour la messagerie en temps réel.</a:t>
            </a:r>
          </a:p>
        </p:txBody>
      </p:sp>
      <p:sp>
        <p:nvSpPr>
          <p:cNvPr id="4" name="Espace réservé du numéro de diapositive 3">
            <a:extLst>
              <a:ext uri="{FF2B5EF4-FFF2-40B4-BE49-F238E27FC236}">
                <a16:creationId xmlns:a16="http://schemas.microsoft.com/office/drawing/2014/main" id="{38E818BE-EB6C-CC4C-7A83-99A986914C90}"/>
              </a:ext>
            </a:extLst>
          </p:cNvPr>
          <p:cNvSpPr>
            <a:spLocks noGrp="1"/>
          </p:cNvSpPr>
          <p:nvPr>
            <p:ph type="sldNum" sz="quarter" idx="5"/>
          </p:nvPr>
        </p:nvSpPr>
        <p:spPr/>
        <p:txBody>
          <a:bodyPr/>
          <a:lstStyle/>
          <a:p>
            <a:pPr rtl="0"/>
            <a:fld id="{D4B9A9E5-4F7F-4A7D-9DE1-899232329269}" type="slidenum">
              <a:rPr lang="fr-FR" smtClean="0"/>
              <a:t>6</a:t>
            </a:fld>
            <a:endParaRPr lang="fr-FR"/>
          </a:p>
        </p:txBody>
      </p:sp>
    </p:spTree>
    <p:extLst>
      <p:ext uri="{BB962C8B-B14F-4D97-AF65-F5344CB8AC3E}">
        <p14:creationId xmlns:p14="http://schemas.microsoft.com/office/powerpoint/2010/main" val="1103800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1E1B4-1B07-87D3-5881-5B2BAA6AF3F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1F1CD9D-5A15-8911-C0CF-4CA8EFDAA15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AB33D8B-FC22-4394-8684-02B8E2866E00}"/>
              </a:ext>
            </a:extLst>
          </p:cNvPr>
          <p:cNvSpPr>
            <a:spLocks noGrp="1"/>
          </p:cNvSpPr>
          <p:nvPr>
            <p:ph type="body" idx="1"/>
          </p:nvPr>
        </p:nvSpPr>
        <p:spPr/>
        <p:txBody>
          <a:bodyPr/>
          <a:lstStyle/>
          <a:p>
            <a:r>
              <a:rPr lang="fr-FR" dirty="0"/>
              <a:t>Pour bien structurer l’application avant de la développer, j’ai commencé par une modélisation UML.</a:t>
            </a:r>
            <a:br>
              <a:rPr lang="fr-FR" dirty="0"/>
            </a:br>
            <a:r>
              <a:rPr lang="fr-FR" dirty="0"/>
              <a:t>Ça m’a permis de représenter clairement les fonctions de l’application, les relations entre les utilisateurs, les messages, les groupes, etc.</a:t>
            </a:r>
            <a:br>
              <a:rPr lang="fr-FR" dirty="0"/>
            </a:br>
            <a:r>
              <a:rPr lang="fr-FR" dirty="0"/>
              <a:t>J’ai utilisé le logiciel </a:t>
            </a:r>
            <a:r>
              <a:rPr lang="fr-FR" b="1" dirty="0" err="1"/>
              <a:t>StarUML</a:t>
            </a:r>
            <a:r>
              <a:rPr lang="fr-FR" dirty="0"/>
              <a:t> pour créer ces diagrammes. </a:t>
            </a:r>
          </a:p>
        </p:txBody>
      </p:sp>
      <p:sp>
        <p:nvSpPr>
          <p:cNvPr id="4" name="Espace réservé du numéro de diapositive 3">
            <a:extLst>
              <a:ext uri="{FF2B5EF4-FFF2-40B4-BE49-F238E27FC236}">
                <a16:creationId xmlns:a16="http://schemas.microsoft.com/office/drawing/2014/main" id="{703171EE-3794-1D8D-D140-BA991592581B}"/>
              </a:ext>
            </a:extLst>
          </p:cNvPr>
          <p:cNvSpPr>
            <a:spLocks noGrp="1"/>
          </p:cNvSpPr>
          <p:nvPr>
            <p:ph type="sldNum" sz="quarter" idx="5"/>
          </p:nvPr>
        </p:nvSpPr>
        <p:spPr/>
        <p:txBody>
          <a:bodyPr/>
          <a:lstStyle/>
          <a:p>
            <a:pPr rtl="0"/>
            <a:fld id="{D4B9A9E5-4F7F-4A7D-9DE1-899232329269}" type="slidenum">
              <a:rPr lang="fr-FR" smtClean="0"/>
              <a:t>7</a:t>
            </a:fld>
            <a:endParaRPr lang="fr-FR"/>
          </a:p>
        </p:txBody>
      </p:sp>
    </p:spTree>
    <p:extLst>
      <p:ext uri="{BB962C8B-B14F-4D97-AF65-F5344CB8AC3E}">
        <p14:creationId xmlns:p14="http://schemas.microsoft.com/office/powerpoint/2010/main" val="3496922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FEA63-386E-D12F-4AA6-AC399981A8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63BF4FD-5FD8-DE6F-1937-F292D5BA307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87E24D3-CF2E-4CAA-85A6-E08928595E92}"/>
              </a:ext>
            </a:extLst>
          </p:cNvPr>
          <p:cNvSpPr>
            <a:spLocks noGrp="1"/>
          </p:cNvSpPr>
          <p:nvPr>
            <p:ph type="body" idx="1"/>
          </p:nvPr>
        </p:nvSpPr>
        <p:spPr/>
        <p:txBody>
          <a:bodyPr/>
          <a:lstStyle/>
          <a:p>
            <a:r>
              <a:rPr lang="fr-FR" dirty="0"/>
              <a:t>Il montre toutes les actions possibles entre l’utilisateur et le système, ainsi que les différentes fonctionnalités offertes.</a:t>
            </a:r>
            <a:br>
              <a:rPr lang="fr-FR" dirty="0"/>
            </a:br>
            <a:r>
              <a:rPr lang="fr-FR" dirty="0"/>
              <a:t>Il y a deux types d’acteurs : l’utilisateur classique, qui utilise les fonctions principales de l’application, et l’administrateur, qui gère les groupes.</a:t>
            </a:r>
            <a:br>
              <a:rPr lang="fr-FR" dirty="0"/>
            </a:br>
            <a:r>
              <a:rPr lang="fr-FR" dirty="0"/>
              <a:t>L’utilisateur commence par créer un compte, puis il peut se connecter et gérer son profil. Il peut rechercher d’autres utilisateurs, leur envoyer des invitations, et accepter ou refuser celles qu’il reçoit.</a:t>
            </a:r>
            <a:br>
              <a:rPr lang="fr-FR" dirty="0"/>
            </a:br>
            <a:r>
              <a:rPr lang="fr-FR" dirty="0"/>
              <a:t>Une fois les connexions validées, il peut envoyer des messages en temps réel, répondre, supprimer, ou réagir à des messages, que ce soit en privé ou en groupe.</a:t>
            </a:r>
            <a:br>
              <a:rPr lang="fr-FR" dirty="0"/>
            </a:br>
            <a:r>
              <a:rPr lang="fr-FR" dirty="0"/>
              <a:t>Il peut aussi publier du contenu, ajouter des images ou vidéos, et interagir avec les publications de ses contacts via des likes, commentaires ou réactions.</a:t>
            </a:r>
            <a:br>
              <a:rPr lang="fr-FR" dirty="0"/>
            </a:br>
            <a:r>
              <a:rPr lang="fr-FR" dirty="0"/>
              <a:t>L’administrateur, lui, peut créer et gérer des groupes, inviter ou retirer des membres.</a:t>
            </a:r>
          </a:p>
        </p:txBody>
      </p:sp>
      <p:sp>
        <p:nvSpPr>
          <p:cNvPr id="4" name="Espace réservé du numéro de diapositive 3">
            <a:extLst>
              <a:ext uri="{FF2B5EF4-FFF2-40B4-BE49-F238E27FC236}">
                <a16:creationId xmlns:a16="http://schemas.microsoft.com/office/drawing/2014/main" id="{FE346FF1-2840-57E3-737C-1AAFCD1D2D3D}"/>
              </a:ext>
            </a:extLst>
          </p:cNvPr>
          <p:cNvSpPr>
            <a:spLocks noGrp="1"/>
          </p:cNvSpPr>
          <p:nvPr>
            <p:ph type="sldNum" sz="quarter" idx="5"/>
          </p:nvPr>
        </p:nvSpPr>
        <p:spPr/>
        <p:txBody>
          <a:bodyPr/>
          <a:lstStyle/>
          <a:p>
            <a:pPr rtl="0"/>
            <a:fld id="{D4B9A9E5-4F7F-4A7D-9DE1-899232329269}" type="slidenum">
              <a:rPr lang="fr-FR" smtClean="0"/>
              <a:t>8</a:t>
            </a:fld>
            <a:endParaRPr lang="fr-FR"/>
          </a:p>
        </p:txBody>
      </p:sp>
    </p:spTree>
    <p:extLst>
      <p:ext uri="{BB962C8B-B14F-4D97-AF65-F5344CB8AC3E}">
        <p14:creationId xmlns:p14="http://schemas.microsoft.com/office/powerpoint/2010/main" val="2921203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48A18-939B-2A52-D020-A2C243C2A66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2D06FD3-9A3C-535F-9270-5B7379FABCF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F272115-DD87-D320-1170-E6C8382859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diagramme de classes modélise les principales entités du système ainsi que leurs relations.</a:t>
            </a:r>
            <a:br>
              <a:rPr lang="fr-FR" dirty="0"/>
            </a:br>
            <a:r>
              <a:rPr lang="fr-FR" dirty="0"/>
              <a:t>La classe </a:t>
            </a:r>
            <a:r>
              <a:rPr lang="fr-FR" b="1" dirty="0"/>
              <a:t>Utilisateur</a:t>
            </a:r>
            <a:r>
              <a:rPr lang="fr-FR" dirty="0"/>
              <a:t> occupe une position centrale : elle permet de gérer le profil, les invitations, la messagerie et les publications.</a:t>
            </a:r>
            <a:br>
              <a:rPr lang="fr-FR" dirty="0"/>
            </a:br>
            <a:r>
              <a:rPr lang="fr-FR" dirty="0"/>
              <a:t>Deux rôles sont distingués : l’utilisateur classique, qui peut interagir dans l’application, et l’administrateur, qui gère les groupes.</a:t>
            </a:r>
            <a:br>
              <a:rPr lang="fr-FR" dirty="0"/>
            </a:br>
            <a:r>
              <a:rPr lang="fr-FR" dirty="0"/>
              <a:t>Les </a:t>
            </a:r>
            <a:r>
              <a:rPr lang="fr-FR" b="1" dirty="0"/>
              <a:t>groupes</a:t>
            </a:r>
            <a:r>
              <a:rPr lang="fr-FR" dirty="0"/>
              <a:t> sont liés à un administrateur et regroupent plusieurs membres pour des échanges collectifs.</a:t>
            </a:r>
            <a:br>
              <a:rPr lang="fr-FR" dirty="0"/>
            </a:br>
            <a:r>
              <a:rPr lang="fr-FR" dirty="0"/>
              <a:t>Les </a:t>
            </a:r>
            <a:r>
              <a:rPr lang="fr-FR" b="1" dirty="0"/>
              <a:t>messages</a:t>
            </a:r>
            <a:r>
              <a:rPr lang="fr-FR" dirty="0"/>
              <a:t> sont organisés en conversations, qu’elles soient privées ou de groupe, et peuvent être envoyés, lus, supprimés ou répondus.</a:t>
            </a:r>
            <a:br>
              <a:rPr lang="fr-FR" dirty="0"/>
            </a:br>
            <a:r>
              <a:rPr lang="fr-FR" dirty="0"/>
              <a:t>Le système repose également sur une classe </a:t>
            </a:r>
            <a:r>
              <a:rPr lang="fr-FR" b="1" dirty="0"/>
              <a:t>Invitation</a:t>
            </a:r>
            <a:r>
              <a:rPr lang="fr-FR" dirty="0"/>
              <a:t> qui conditionne toute interaction, assurant un contrôle social strict.</a:t>
            </a:r>
            <a:br>
              <a:rPr lang="fr-FR" dirty="0"/>
            </a:br>
            <a:r>
              <a:rPr lang="fr-FR" dirty="0"/>
              <a:t>Enfin, les </a:t>
            </a:r>
            <a:r>
              <a:rPr lang="fr-FR" b="1" dirty="0"/>
              <a:t>publications</a:t>
            </a:r>
            <a:r>
              <a:rPr lang="fr-FR" dirty="0"/>
              <a:t>, accompagnées de </a:t>
            </a:r>
            <a:r>
              <a:rPr lang="fr-FR" b="1" dirty="0"/>
              <a:t>commentaires</a:t>
            </a:r>
            <a:r>
              <a:rPr lang="fr-FR" dirty="0"/>
              <a:t> et de </a:t>
            </a:r>
            <a:r>
              <a:rPr lang="fr-FR" b="1" dirty="0"/>
              <a:t>réactions</a:t>
            </a:r>
            <a:r>
              <a:rPr lang="fr-FR" dirty="0"/>
              <a:t>, sont accessibles uniquement aux contacts validés.</a:t>
            </a:r>
            <a:endParaRPr lang="fr-MA" dirty="0"/>
          </a:p>
          <a:p>
            <a:endParaRPr lang="fr-FR" dirty="0"/>
          </a:p>
        </p:txBody>
      </p:sp>
      <p:sp>
        <p:nvSpPr>
          <p:cNvPr id="4" name="Espace réservé du numéro de diapositive 3">
            <a:extLst>
              <a:ext uri="{FF2B5EF4-FFF2-40B4-BE49-F238E27FC236}">
                <a16:creationId xmlns:a16="http://schemas.microsoft.com/office/drawing/2014/main" id="{8A0CC535-E32F-B861-A6B2-98FBCBF62D38}"/>
              </a:ext>
            </a:extLst>
          </p:cNvPr>
          <p:cNvSpPr>
            <a:spLocks noGrp="1"/>
          </p:cNvSpPr>
          <p:nvPr>
            <p:ph type="sldNum" sz="quarter" idx="5"/>
          </p:nvPr>
        </p:nvSpPr>
        <p:spPr/>
        <p:txBody>
          <a:bodyPr/>
          <a:lstStyle/>
          <a:p>
            <a:pPr rtl="0"/>
            <a:fld id="{D4B9A9E5-4F7F-4A7D-9DE1-899232329269}" type="slidenum">
              <a:rPr lang="fr-FR" smtClean="0"/>
              <a:t>9</a:t>
            </a:fld>
            <a:endParaRPr lang="fr-FR"/>
          </a:p>
        </p:txBody>
      </p:sp>
    </p:spTree>
    <p:extLst>
      <p:ext uri="{BB962C8B-B14F-4D97-AF65-F5344CB8AC3E}">
        <p14:creationId xmlns:p14="http://schemas.microsoft.com/office/powerpoint/2010/main" val="3985311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77548-8BAB-2BFD-45BB-FB1C01FB77B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7F718E-4D82-69B2-DB61-F6BA5FF9974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6F94C0D-B09D-E876-158C-89E65A556BC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diagramme de séquence décrit le déroulement complet du processus d’inscription d’un utilisateur.</a:t>
            </a:r>
            <a:br>
              <a:rPr lang="fr-FR" dirty="0"/>
            </a:br>
            <a:r>
              <a:rPr lang="fr-FR" dirty="0"/>
              <a:t>Il commence par l’affichage de la page d’inscription et la saisie des informations personnelles par l’utilisateur.</a:t>
            </a:r>
            <a:br>
              <a:rPr lang="fr-FR" dirty="0"/>
            </a:br>
            <a:r>
              <a:rPr lang="fr-FR" dirty="0"/>
              <a:t>Le système vérifie les données : en cas d’erreur, un message s’affiche ; sinon, l’utilisateur accède à la vérification par code.</a:t>
            </a:r>
            <a:br>
              <a:rPr lang="fr-FR" dirty="0"/>
            </a:br>
            <a:r>
              <a:rPr lang="fr-FR" dirty="0"/>
              <a:t>Une fois le code saisi, celui-ci est validé ou rejeté. Si le </a:t>
            </a:r>
            <a:r>
              <a:rPr lang="fr-FR" sz="3600" dirty="0"/>
              <a:t>code est correct, l’utilisateur est redirigé vers la page de connexion.</a:t>
            </a:r>
            <a:br>
              <a:rPr lang="fr-FR" sz="3600" dirty="0"/>
            </a:br>
            <a:r>
              <a:rPr lang="fr-FR" sz="3600" dirty="0"/>
              <a:t>Ce diagramme permet d’anticiper les vérifications, erreurs possibles et réponses du système </a:t>
            </a:r>
            <a:r>
              <a:rPr lang="fr-FR" dirty="0"/>
              <a:t>à chaque étape du processus.</a:t>
            </a:r>
            <a:endParaRPr lang="fr-MA" dirty="0"/>
          </a:p>
          <a:p>
            <a:endParaRPr lang="fr-FR" dirty="0"/>
          </a:p>
        </p:txBody>
      </p:sp>
      <p:sp>
        <p:nvSpPr>
          <p:cNvPr id="4" name="Espace réservé du numéro de diapositive 3">
            <a:extLst>
              <a:ext uri="{FF2B5EF4-FFF2-40B4-BE49-F238E27FC236}">
                <a16:creationId xmlns:a16="http://schemas.microsoft.com/office/drawing/2014/main" id="{08E91E9D-CAA0-DF4D-4231-9FD686CAA3A4}"/>
              </a:ext>
            </a:extLst>
          </p:cNvPr>
          <p:cNvSpPr>
            <a:spLocks noGrp="1"/>
          </p:cNvSpPr>
          <p:nvPr>
            <p:ph type="sldNum" sz="quarter" idx="5"/>
          </p:nvPr>
        </p:nvSpPr>
        <p:spPr/>
        <p:txBody>
          <a:bodyPr/>
          <a:lstStyle/>
          <a:p>
            <a:pPr rtl="0"/>
            <a:fld id="{D4B9A9E5-4F7F-4A7D-9DE1-899232329269}" type="slidenum">
              <a:rPr lang="fr-FR" smtClean="0"/>
              <a:t>10</a:t>
            </a:fld>
            <a:endParaRPr lang="fr-FR"/>
          </a:p>
        </p:txBody>
      </p:sp>
    </p:spTree>
    <p:extLst>
      <p:ext uri="{BB962C8B-B14F-4D97-AF65-F5344CB8AC3E}">
        <p14:creationId xmlns:p14="http://schemas.microsoft.com/office/powerpoint/2010/main" val="3223449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D7961-A1BD-C44A-35DD-141494FD318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7FB7AC-85CE-7443-9EC7-15D27AC4988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F656ABA-0F9D-A98D-A6DF-6DB266F286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 diagramme illustre le déroulement du processus de connexion d’un utilisateur.</a:t>
            </a:r>
            <a:br>
              <a:rPr lang="fr-FR" dirty="0"/>
            </a:br>
            <a:r>
              <a:rPr lang="fr-FR" dirty="0"/>
              <a:t>Après avoir accédé à la page de connexion, l’utilisateur saisit ses identifiants et les soumet via le formulaire.</a:t>
            </a:r>
            <a:br>
              <a:rPr lang="fr-FR" dirty="0"/>
            </a:br>
            <a:r>
              <a:rPr lang="fr-FR" dirty="0"/>
              <a:t>Le système vérifie ensuite ces informations : en cas de succès, l’utilisateur est redirigé vers la page d’accueil ; sinon, un message d’erreur s’affiche.</a:t>
            </a:r>
            <a:br>
              <a:rPr lang="fr-FR" dirty="0"/>
            </a:br>
            <a:r>
              <a:rPr lang="fr-FR" dirty="0"/>
              <a:t>Ce scénario met en évidence les vérifications de sécurité, la gestion des erreurs et les réponses du système, éléments essentiels à une authentification robuste.</a:t>
            </a:r>
          </a:p>
          <a:p>
            <a:endParaRPr lang="fr-FR" dirty="0"/>
          </a:p>
        </p:txBody>
      </p:sp>
      <p:sp>
        <p:nvSpPr>
          <p:cNvPr id="4" name="Espace réservé du numéro de diapositive 3">
            <a:extLst>
              <a:ext uri="{FF2B5EF4-FFF2-40B4-BE49-F238E27FC236}">
                <a16:creationId xmlns:a16="http://schemas.microsoft.com/office/drawing/2014/main" id="{03991556-5BE7-68BF-D9D0-0B933763C2C7}"/>
              </a:ext>
            </a:extLst>
          </p:cNvPr>
          <p:cNvSpPr>
            <a:spLocks noGrp="1"/>
          </p:cNvSpPr>
          <p:nvPr>
            <p:ph type="sldNum" sz="quarter" idx="5"/>
          </p:nvPr>
        </p:nvSpPr>
        <p:spPr/>
        <p:txBody>
          <a:bodyPr/>
          <a:lstStyle/>
          <a:p>
            <a:pPr rtl="0"/>
            <a:fld id="{D4B9A9E5-4F7F-4A7D-9DE1-899232329269}" type="slidenum">
              <a:rPr lang="fr-FR" smtClean="0"/>
              <a:t>11</a:t>
            </a:fld>
            <a:endParaRPr lang="fr-FR"/>
          </a:p>
        </p:txBody>
      </p:sp>
    </p:spTree>
    <p:extLst>
      <p:ext uri="{BB962C8B-B14F-4D97-AF65-F5344CB8AC3E}">
        <p14:creationId xmlns:p14="http://schemas.microsoft.com/office/powerpoint/2010/main" val="890342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FAE6D-AB44-2027-75F2-AF48E631BAB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979648C-FA0A-FF62-9F43-C897E4B14AE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7C4B3A3-F82F-2D10-73B1-B95DC634FF1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 diagramme décrit le processus d’établissement d’une connexion entre deux utilisateurs via une invitation.</a:t>
            </a:r>
            <a:br>
              <a:rPr lang="fr-FR" dirty="0"/>
            </a:br>
            <a:r>
              <a:rPr lang="fr-FR" dirty="0"/>
              <a:t>L’utilisateur A effectue une recherche, envoie une demande, et le système notifie l’utilisateur B.</a:t>
            </a:r>
            <a:br>
              <a:rPr lang="fr-FR" dirty="0"/>
            </a:br>
            <a:r>
              <a:rPr lang="fr-FR" dirty="0"/>
              <a:t>Si l’invitation est acceptée, une connexion réciproque est créée, donnant accès aux fonctionnalités sociales.</a:t>
            </a:r>
            <a:br>
              <a:rPr lang="fr-FR" dirty="0"/>
            </a:br>
            <a:r>
              <a:rPr lang="fr-FR" dirty="0"/>
              <a:t>En cas de refus, la demande est annulée et aucune interaction n’est possible.</a:t>
            </a:r>
            <a:br>
              <a:rPr lang="fr-FR" dirty="0"/>
            </a:br>
            <a:r>
              <a:rPr lang="fr-FR" dirty="0"/>
              <a:t>Ce scénario illustre le principe de validation mutuelle, garantissant un contrôle total sur les relations établies.</a:t>
            </a:r>
          </a:p>
          <a:p>
            <a:endParaRPr lang="fr-FR" dirty="0"/>
          </a:p>
        </p:txBody>
      </p:sp>
      <p:sp>
        <p:nvSpPr>
          <p:cNvPr id="4" name="Espace réservé du numéro de diapositive 3">
            <a:extLst>
              <a:ext uri="{FF2B5EF4-FFF2-40B4-BE49-F238E27FC236}">
                <a16:creationId xmlns:a16="http://schemas.microsoft.com/office/drawing/2014/main" id="{6F5ECEFC-E4CC-2006-086C-3CD929F1375C}"/>
              </a:ext>
            </a:extLst>
          </p:cNvPr>
          <p:cNvSpPr>
            <a:spLocks noGrp="1"/>
          </p:cNvSpPr>
          <p:nvPr>
            <p:ph type="sldNum" sz="quarter" idx="5"/>
          </p:nvPr>
        </p:nvSpPr>
        <p:spPr/>
        <p:txBody>
          <a:bodyPr/>
          <a:lstStyle/>
          <a:p>
            <a:pPr rtl="0"/>
            <a:fld id="{D4B9A9E5-4F7F-4A7D-9DE1-899232329269}" type="slidenum">
              <a:rPr lang="fr-FR" smtClean="0"/>
              <a:t>12</a:t>
            </a:fld>
            <a:endParaRPr lang="fr-FR"/>
          </a:p>
        </p:txBody>
      </p:sp>
    </p:spTree>
    <p:extLst>
      <p:ext uri="{BB962C8B-B14F-4D97-AF65-F5344CB8AC3E}">
        <p14:creationId xmlns:p14="http://schemas.microsoft.com/office/powerpoint/2010/main" val="1642446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B26A-C403-513E-E24B-DDDD776F762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FC17AAE-B0AB-35E3-630C-3AAC2F6B39B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6F3871E-F940-7A15-5F80-E02BDD917D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 diagramme illustre le processus d’échange de messages entre deux utilisateurs déjà connectés.</a:t>
            </a:r>
            <a:br>
              <a:rPr lang="fr-FR" dirty="0"/>
            </a:br>
            <a:r>
              <a:rPr lang="fr-FR" dirty="0"/>
              <a:t>L’utilisateur A envoie un message, que le système transmet à l’utilisateur B avec notification.</a:t>
            </a:r>
            <a:br>
              <a:rPr lang="fr-FR" dirty="0"/>
            </a:br>
            <a:r>
              <a:rPr lang="fr-FR" dirty="0"/>
              <a:t>Une fois le message consulté, il peut être marqué comme lu, et une réponse peut être envoyée en retour.</a:t>
            </a:r>
            <a:br>
              <a:rPr lang="fr-FR" dirty="0"/>
            </a:br>
            <a:r>
              <a:rPr lang="fr-FR" dirty="0"/>
              <a:t>Des actions supplémentaires sont prévues : suppression d’un message pour tous, ou nettoyage local d’une conversation.</a:t>
            </a:r>
            <a:endParaRPr lang="fr-MA" dirty="0"/>
          </a:p>
          <a:p>
            <a:endParaRPr lang="fr-FR" dirty="0"/>
          </a:p>
        </p:txBody>
      </p:sp>
      <p:sp>
        <p:nvSpPr>
          <p:cNvPr id="4" name="Espace réservé du numéro de diapositive 3">
            <a:extLst>
              <a:ext uri="{FF2B5EF4-FFF2-40B4-BE49-F238E27FC236}">
                <a16:creationId xmlns:a16="http://schemas.microsoft.com/office/drawing/2014/main" id="{72E0062D-FFAD-7675-B6C1-02849F5576E8}"/>
              </a:ext>
            </a:extLst>
          </p:cNvPr>
          <p:cNvSpPr>
            <a:spLocks noGrp="1"/>
          </p:cNvSpPr>
          <p:nvPr>
            <p:ph type="sldNum" sz="quarter" idx="5"/>
          </p:nvPr>
        </p:nvSpPr>
        <p:spPr/>
        <p:txBody>
          <a:bodyPr/>
          <a:lstStyle/>
          <a:p>
            <a:pPr rtl="0"/>
            <a:fld id="{D4B9A9E5-4F7F-4A7D-9DE1-899232329269}" type="slidenum">
              <a:rPr lang="fr-FR" smtClean="0"/>
              <a:t>13</a:t>
            </a:fld>
            <a:endParaRPr lang="fr-FR"/>
          </a:p>
        </p:txBody>
      </p:sp>
    </p:spTree>
    <p:extLst>
      <p:ext uri="{BB962C8B-B14F-4D97-AF65-F5344CB8AC3E}">
        <p14:creationId xmlns:p14="http://schemas.microsoft.com/office/powerpoint/2010/main" val="31856255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42201-177C-AB29-5E94-59ECAF6F4B1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207A400-F4F2-7194-C357-610C41DED15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8D4B4F1-DC7B-BCA1-5892-D8A28EAFC4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 diagramme modélise le processus d’invitation et d’échange au sein d’un groupe de discussion.</a:t>
            </a:r>
            <a:br>
              <a:rPr lang="fr-FR" dirty="0"/>
            </a:br>
            <a:r>
              <a:rPr lang="fr-FR" dirty="0"/>
              <a:t>L’administrateur envoie une invitation à un utilisateur, qui peut l’accepter ou la refuser.</a:t>
            </a:r>
            <a:br>
              <a:rPr lang="fr-FR" dirty="0"/>
            </a:br>
            <a:r>
              <a:rPr lang="fr-FR" dirty="0"/>
              <a:t>En cas d’acceptation, l’utilisateur rejoint le groupe et peut participer aux échanges.</a:t>
            </a:r>
            <a:br>
              <a:rPr lang="fr-FR" dirty="0"/>
            </a:br>
            <a:r>
              <a:rPr lang="fr-FR" dirty="0"/>
              <a:t>Les messages envoyés sont diffusés à tous les membres du groupe, qui peuvent y répondre ou supprimer leurs propres messages.</a:t>
            </a:r>
            <a:endParaRPr lang="fr-MA" dirty="0"/>
          </a:p>
          <a:p>
            <a:endParaRPr lang="fr-FR" dirty="0"/>
          </a:p>
        </p:txBody>
      </p:sp>
      <p:sp>
        <p:nvSpPr>
          <p:cNvPr id="4" name="Espace réservé du numéro de diapositive 3">
            <a:extLst>
              <a:ext uri="{FF2B5EF4-FFF2-40B4-BE49-F238E27FC236}">
                <a16:creationId xmlns:a16="http://schemas.microsoft.com/office/drawing/2014/main" id="{10AE0606-E1EB-20C4-B7D2-3B3815ED4989}"/>
              </a:ext>
            </a:extLst>
          </p:cNvPr>
          <p:cNvSpPr>
            <a:spLocks noGrp="1"/>
          </p:cNvSpPr>
          <p:nvPr>
            <p:ph type="sldNum" sz="quarter" idx="5"/>
          </p:nvPr>
        </p:nvSpPr>
        <p:spPr/>
        <p:txBody>
          <a:bodyPr/>
          <a:lstStyle/>
          <a:p>
            <a:pPr rtl="0"/>
            <a:fld id="{D4B9A9E5-4F7F-4A7D-9DE1-899232329269}" type="slidenum">
              <a:rPr lang="fr-FR" smtClean="0"/>
              <a:t>14</a:t>
            </a:fld>
            <a:endParaRPr lang="fr-FR"/>
          </a:p>
        </p:txBody>
      </p:sp>
    </p:spTree>
    <p:extLst>
      <p:ext uri="{BB962C8B-B14F-4D97-AF65-F5344CB8AC3E}">
        <p14:creationId xmlns:p14="http://schemas.microsoft.com/office/powerpoint/2010/main" val="368525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17FEE-77EF-F5EF-EF9F-D3C9EA33310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DEEE9F0-56D6-320E-C571-79FC3D24AAD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90BF812-DF05-6AC5-93AE-A7C13B2037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 diagramme décrit les interactions liées à une publication entre deux utilisateurs connectés.</a:t>
            </a:r>
            <a:br>
              <a:rPr lang="fr-FR" dirty="0"/>
            </a:br>
            <a:r>
              <a:rPr lang="fr-FR" dirty="0"/>
              <a:t>L’utilisateur A crée une publication, rendue visible uniquement à ses contacts validés, et peut la supprimer à tout moment.</a:t>
            </a:r>
            <a:br>
              <a:rPr lang="fr-FR" dirty="0"/>
            </a:br>
            <a:r>
              <a:rPr lang="fr-FR" dirty="0"/>
              <a:t>L’utilisateur B, en tant que contact autorisé, peut aimer ou commenter la publication.</a:t>
            </a:r>
            <a:endParaRPr lang="fr-MA" dirty="0"/>
          </a:p>
          <a:p>
            <a:endParaRPr lang="fr-FR" dirty="0"/>
          </a:p>
        </p:txBody>
      </p:sp>
      <p:sp>
        <p:nvSpPr>
          <p:cNvPr id="4" name="Espace réservé du numéro de diapositive 3">
            <a:extLst>
              <a:ext uri="{FF2B5EF4-FFF2-40B4-BE49-F238E27FC236}">
                <a16:creationId xmlns:a16="http://schemas.microsoft.com/office/drawing/2014/main" id="{26E036CE-4691-269C-2B72-1FDA4624385D}"/>
              </a:ext>
            </a:extLst>
          </p:cNvPr>
          <p:cNvSpPr>
            <a:spLocks noGrp="1"/>
          </p:cNvSpPr>
          <p:nvPr>
            <p:ph type="sldNum" sz="quarter" idx="5"/>
          </p:nvPr>
        </p:nvSpPr>
        <p:spPr/>
        <p:txBody>
          <a:bodyPr/>
          <a:lstStyle/>
          <a:p>
            <a:pPr rtl="0"/>
            <a:fld id="{D4B9A9E5-4F7F-4A7D-9DE1-899232329269}" type="slidenum">
              <a:rPr lang="fr-FR" smtClean="0"/>
              <a:t>15</a:t>
            </a:fld>
            <a:endParaRPr lang="fr-FR"/>
          </a:p>
        </p:txBody>
      </p:sp>
    </p:spTree>
    <p:extLst>
      <p:ext uri="{BB962C8B-B14F-4D97-AF65-F5344CB8AC3E}">
        <p14:creationId xmlns:p14="http://schemas.microsoft.com/office/powerpoint/2010/main" val="1169288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L’interface utilisateur a été développée en HTML et stylisée avec CSS et Bootstrap pour assurer une mise en page cohérente et responsive.</a:t>
            </a:r>
            <a:br>
              <a:rPr lang="fr-FR" dirty="0"/>
            </a:br>
            <a:r>
              <a:rPr lang="fr-FR" dirty="0"/>
              <a:t>JavaScript a été utilisé pour ajouter de l’interactivité, comme la validation de formulaire ou les notifications.</a:t>
            </a:r>
            <a:br>
              <a:rPr lang="fr-FR" dirty="0"/>
            </a:br>
            <a:r>
              <a:rPr lang="fr-FR" dirty="0"/>
              <a:t>Enfin, AJAX permet de communiquer avec le serveur sans recharger la page, notamment pour les messages ou publications.</a:t>
            </a:r>
            <a:endParaRPr lang="fr-MA" dirty="0"/>
          </a:p>
          <a:p>
            <a:endParaRPr lang="fr-MA" dirty="0"/>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FR" noProof="0" smtClean="0"/>
              <a:t>16</a:t>
            </a:fld>
            <a:endParaRPr lang="fr-FR" noProof="0"/>
          </a:p>
        </p:txBody>
      </p:sp>
    </p:spTree>
    <p:extLst>
      <p:ext uri="{BB962C8B-B14F-4D97-AF65-F5344CB8AC3E}">
        <p14:creationId xmlns:p14="http://schemas.microsoft.com/office/powerpoint/2010/main" val="1000311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backend est basé sur </a:t>
            </a:r>
            <a:r>
              <a:rPr lang="fr-FR" dirty="0" err="1"/>
              <a:t>Laravel</a:t>
            </a:r>
            <a:r>
              <a:rPr lang="fr-FR" dirty="0"/>
              <a:t>, un </a:t>
            </a:r>
            <a:r>
              <a:rPr lang="fr-FR" dirty="0" err="1"/>
              <a:t>framework</a:t>
            </a:r>
            <a:r>
              <a:rPr lang="fr-FR" dirty="0"/>
              <a:t> MVC qui facilite l’organisation du code, la sécurité et les contrôleurs.</a:t>
            </a:r>
            <a:br>
              <a:rPr lang="fr-FR" dirty="0"/>
            </a:br>
            <a:r>
              <a:rPr lang="fr-FR" dirty="0"/>
              <a:t>PHP est le langage de base utilisé avec </a:t>
            </a:r>
            <a:r>
              <a:rPr lang="fr-FR" dirty="0" err="1"/>
              <a:t>Laravel</a:t>
            </a:r>
            <a:r>
              <a:rPr lang="fr-FR" dirty="0"/>
              <a:t> pour gérer les requêtes et les interactions avec la base de données.</a:t>
            </a:r>
            <a:br>
              <a:rPr lang="fr-FR" dirty="0"/>
            </a:br>
            <a:r>
              <a:rPr lang="fr-FR" dirty="0"/>
              <a:t>MySQL stocke toutes les données de l’application, et Pusher gère les échanges en temps réel via </a:t>
            </a:r>
            <a:r>
              <a:rPr lang="fr-FR" dirty="0" err="1"/>
              <a:t>WebSockets</a:t>
            </a:r>
            <a:r>
              <a:rPr lang="fr-FR" dirty="0"/>
              <a:t> pour les messages instantanés.</a:t>
            </a:r>
            <a:endParaRPr lang="fr-MA" dirty="0"/>
          </a:p>
          <a:p>
            <a:endParaRPr lang="fr-MA" dirty="0"/>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FR" noProof="0" smtClean="0"/>
              <a:t>17</a:t>
            </a:fld>
            <a:endParaRPr lang="fr-FR" noProof="0"/>
          </a:p>
        </p:txBody>
      </p:sp>
    </p:spTree>
    <p:extLst>
      <p:ext uri="{BB962C8B-B14F-4D97-AF65-F5344CB8AC3E}">
        <p14:creationId xmlns:p14="http://schemas.microsoft.com/office/powerpoint/2010/main" val="3726061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765DB-9A97-7F40-4CE3-B4CDF1E3D99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41E1A44-97D9-F9FC-F4FC-F17AD45B33C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CD3DEA2-B255-BCDF-A8AA-AC6F498CC0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backend est basé sur </a:t>
            </a:r>
            <a:r>
              <a:rPr lang="fr-FR" dirty="0" err="1"/>
              <a:t>Laravel</a:t>
            </a:r>
            <a:r>
              <a:rPr lang="fr-FR" dirty="0"/>
              <a:t>, un </a:t>
            </a:r>
            <a:r>
              <a:rPr lang="fr-FR" dirty="0" err="1"/>
              <a:t>framework</a:t>
            </a:r>
            <a:r>
              <a:rPr lang="fr-FR" dirty="0"/>
              <a:t> MVC qui facilite l’organisation du code, la sécurité et les contrôleurs.</a:t>
            </a:r>
            <a:br>
              <a:rPr lang="fr-FR" dirty="0"/>
            </a:br>
            <a:r>
              <a:rPr lang="fr-FR" dirty="0"/>
              <a:t>PHP est le langage de base utilisé avec </a:t>
            </a:r>
            <a:r>
              <a:rPr lang="fr-FR" dirty="0" err="1"/>
              <a:t>Laravel</a:t>
            </a:r>
            <a:r>
              <a:rPr lang="fr-FR" dirty="0"/>
              <a:t> pour gérer les requêtes et les interactions avec la base de données.</a:t>
            </a:r>
            <a:br>
              <a:rPr lang="fr-FR" dirty="0"/>
            </a:br>
            <a:r>
              <a:rPr lang="fr-FR" dirty="0"/>
              <a:t>MySQL stocke toutes les données de l’application, et Pusher gère les échanges en temps réel via </a:t>
            </a:r>
            <a:r>
              <a:rPr lang="fr-FR" dirty="0" err="1"/>
              <a:t>WebSockets</a:t>
            </a:r>
            <a:r>
              <a:rPr lang="fr-FR" dirty="0"/>
              <a:t> pour les messages instantanés.</a:t>
            </a:r>
            <a:endParaRPr lang="fr-MA" dirty="0"/>
          </a:p>
          <a:p>
            <a:endParaRPr lang="fr-MA" dirty="0"/>
          </a:p>
        </p:txBody>
      </p:sp>
      <p:sp>
        <p:nvSpPr>
          <p:cNvPr id="4" name="Espace réservé du numéro de diapositive 3">
            <a:extLst>
              <a:ext uri="{FF2B5EF4-FFF2-40B4-BE49-F238E27FC236}">
                <a16:creationId xmlns:a16="http://schemas.microsoft.com/office/drawing/2014/main" id="{2B47FAA0-DE11-CA22-942C-600D32BE8F1A}"/>
              </a:ext>
            </a:extLst>
          </p:cNvPr>
          <p:cNvSpPr>
            <a:spLocks noGrp="1"/>
          </p:cNvSpPr>
          <p:nvPr>
            <p:ph type="sldNum" sz="quarter" idx="5"/>
          </p:nvPr>
        </p:nvSpPr>
        <p:spPr/>
        <p:txBody>
          <a:bodyPr/>
          <a:lstStyle/>
          <a:p>
            <a:pPr rtl="0"/>
            <a:fld id="{D4B9A9E5-4F7F-4A7D-9DE1-899232329269}" type="slidenum">
              <a:rPr lang="fr-FR" noProof="0" smtClean="0"/>
              <a:t>18</a:t>
            </a:fld>
            <a:endParaRPr lang="fr-FR" noProof="0"/>
          </a:p>
        </p:txBody>
      </p:sp>
    </p:spTree>
    <p:extLst>
      <p:ext uri="{BB962C8B-B14F-4D97-AF65-F5344CB8AC3E}">
        <p14:creationId xmlns:p14="http://schemas.microsoft.com/office/powerpoint/2010/main" val="16157500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0DB32-6B05-F345-37E0-0F4879A7D12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FEB2D20-D718-7371-4CC1-4CD3F23D9B0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A37A09E-9C78-487A-6610-5C1F9CE85D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Maintenant, je vais vous montrer une démonstration de l’application.</a:t>
            </a:r>
            <a:br>
              <a:rPr lang="fr-FR" dirty="0"/>
            </a:br>
            <a:endParaRPr lang="fr-FR" dirty="0"/>
          </a:p>
        </p:txBody>
      </p:sp>
      <p:sp>
        <p:nvSpPr>
          <p:cNvPr id="4" name="Espace réservé du numéro de diapositive 3">
            <a:extLst>
              <a:ext uri="{FF2B5EF4-FFF2-40B4-BE49-F238E27FC236}">
                <a16:creationId xmlns:a16="http://schemas.microsoft.com/office/drawing/2014/main" id="{636B3130-E35E-9D06-0348-170E96161CBA}"/>
              </a:ext>
            </a:extLst>
          </p:cNvPr>
          <p:cNvSpPr>
            <a:spLocks noGrp="1"/>
          </p:cNvSpPr>
          <p:nvPr>
            <p:ph type="sldNum" sz="quarter" idx="5"/>
          </p:nvPr>
        </p:nvSpPr>
        <p:spPr/>
        <p:txBody>
          <a:bodyPr/>
          <a:lstStyle/>
          <a:p>
            <a:pPr rtl="0"/>
            <a:fld id="{D4B9A9E5-4F7F-4A7D-9DE1-899232329269}" type="slidenum">
              <a:rPr lang="fr-FR" smtClean="0"/>
              <a:t>19</a:t>
            </a:fld>
            <a:endParaRPr lang="fr-FR"/>
          </a:p>
        </p:txBody>
      </p:sp>
    </p:spTree>
    <p:extLst>
      <p:ext uri="{BB962C8B-B14F-4D97-AF65-F5344CB8AC3E}">
        <p14:creationId xmlns:p14="http://schemas.microsoft.com/office/powerpoint/2010/main" val="2671922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86CB5-B7CE-E135-88FD-70494DC0A6D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2B918D0-BB39-9F14-560B-9E64240CD91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E4A5CA4-4B43-E89F-5B17-1D5AE06BCC19}"/>
              </a:ext>
            </a:extLst>
          </p:cNvPr>
          <p:cNvSpPr>
            <a:spLocks noGrp="1"/>
          </p:cNvSpPr>
          <p:nvPr>
            <p:ph type="body" idx="1"/>
          </p:nvPr>
        </p:nvSpPr>
        <p:spPr/>
        <p:txBody>
          <a:bodyPr/>
          <a:lstStyle/>
          <a:p>
            <a:r>
              <a:rPr lang="fr-FR" dirty="0"/>
              <a:t>Ce projet avait pour objectif la création d’une application de messagerie privée et sécurisée.</a:t>
            </a:r>
            <a:br>
              <a:rPr lang="fr-FR" dirty="0"/>
            </a:br>
            <a:r>
              <a:rPr lang="fr-FR" dirty="0"/>
              <a:t>L’application intègre les fonctionnalités essentielles : création de compte, gestion de contacts, envoi de messages en temps réel, publications privées et création de groupes.</a:t>
            </a:r>
          </a:p>
          <a:p>
            <a:r>
              <a:rPr lang="fr-FR" dirty="0" err="1"/>
              <a:t>Laravel</a:t>
            </a:r>
            <a:r>
              <a:rPr lang="fr-FR" dirty="0"/>
              <a:t>, MySQL et Pusher ont été utilisés pour concevoir une solution stable, rapide et bien structurée.</a:t>
            </a:r>
          </a:p>
          <a:p>
            <a:r>
              <a:rPr lang="fr-FR" dirty="0"/>
              <a:t>Cette base ouvre la voie à de futures améliorations comme le chiffrement des messages ou l’hébergement en ligne.</a:t>
            </a:r>
          </a:p>
        </p:txBody>
      </p:sp>
      <p:sp>
        <p:nvSpPr>
          <p:cNvPr id="4" name="Espace réservé du numéro de diapositive 3">
            <a:extLst>
              <a:ext uri="{FF2B5EF4-FFF2-40B4-BE49-F238E27FC236}">
                <a16:creationId xmlns:a16="http://schemas.microsoft.com/office/drawing/2014/main" id="{4F6E7FAE-3E43-2DAA-BF54-17F128B617C5}"/>
              </a:ext>
            </a:extLst>
          </p:cNvPr>
          <p:cNvSpPr>
            <a:spLocks noGrp="1"/>
          </p:cNvSpPr>
          <p:nvPr>
            <p:ph type="sldNum" sz="quarter" idx="5"/>
          </p:nvPr>
        </p:nvSpPr>
        <p:spPr/>
        <p:txBody>
          <a:bodyPr/>
          <a:lstStyle/>
          <a:p>
            <a:pPr rtl="0"/>
            <a:fld id="{D4B9A9E5-4F7F-4A7D-9DE1-899232329269}" type="slidenum">
              <a:rPr lang="fr-FR" smtClean="0"/>
              <a:t>20</a:t>
            </a:fld>
            <a:endParaRPr lang="fr-FR"/>
          </a:p>
        </p:txBody>
      </p:sp>
    </p:spTree>
    <p:extLst>
      <p:ext uri="{BB962C8B-B14F-4D97-AF65-F5344CB8AC3E}">
        <p14:creationId xmlns:p14="http://schemas.microsoft.com/office/powerpoint/2010/main" val="32716239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03567-FAE3-B4B6-8484-1F2F584E45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449A204-4843-16EF-3DD8-960884F8FF0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BEEC202-097D-0065-B817-34D01654E2F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032F310-AE50-9AA9-D89E-D7AAB58813CA}"/>
              </a:ext>
            </a:extLst>
          </p:cNvPr>
          <p:cNvSpPr>
            <a:spLocks noGrp="1"/>
          </p:cNvSpPr>
          <p:nvPr>
            <p:ph type="sldNum" sz="quarter" idx="5"/>
          </p:nvPr>
        </p:nvSpPr>
        <p:spPr/>
        <p:txBody>
          <a:bodyPr/>
          <a:lstStyle/>
          <a:p>
            <a:pPr rtl="0"/>
            <a:fld id="{D4B9A9E5-4F7F-4A7D-9DE1-899232329269}" type="slidenum">
              <a:rPr lang="fr-FR" smtClean="0"/>
              <a:t>21</a:t>
            </a:fld>
            <a:endParaRPr lang="fr-FR"/>
          </a:p>
        </p:txBody>
      </p:sp>
    </p:spTree>
    <p:extLst>
      <p:ext uri="{BB962C8B-B14F-4D97-AF65-F5344CB8AC3E}">
        <p14:creationId xmlns:p14="http://schemas.microsoft.com/office/powerpoint/2010/main" val="27162867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solidFill>
                  <a:schemeClr val="tx1">
                    <a:lumMod val="75000"/>
                    <a:lumOff val="25000"/>
                  </a:schemeClr>
                </a:solidFill>
              </a:defRPr>
            </a:lvl1pPr>
          </a:lstStyle>
          <a:p>
            <a:pPr rtl="0"/>
            <a:r>
              <a:rPr lang="fr-FR" noProof="0"/>
              <a:t>CLIQUEZ POUR MODIFIER LE STYLE DU TITRE DU MASQUE</a:t>
            </a:r>
          </a:p>
        </p:txBody>
      </p:sp>
      <p:sp>
        <p:nvSpPr>
          <p:cNvPr id="3" name="Sous-titr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rtlCol="0">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pic>
        <p:nvPicPr>
          <p:cNvPr id="8" name="Graphisme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Programme">
    <p:bg>
      <p:bgPr>
        <a:solidFill>
          <a:schemeClr val="bg1"/>
        </a:solidFill>
        <a:effectLst/>
      </p:bgPr>
    </p:bg>
    <p:spTree>
      <p:nvGrpSpPr>
        <p:cNvPr id="1" name=""/>
        <p:cNvGrpSpPr/>
        <p:nvPr/>
      </p:nvGrpSpPr>
      <p:grpSpPr>
        <a:xfrm>
          <a:off x="0" y="0"/>
          <a:ext cx="0" cy="0"/>
          <a:chOff x="0" y="0"/>
          <a:chExt cx="0" cy="0"/>
        </a:xfrm>
      </p:grpSpPr>
      <p:pic>
        <p:nvPicPr>
          <p:cNvPr id="8" name="Graphisme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r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tx1">
                    <a:lumMod val="75000"/>
                    <a:lumOff val="25000"/>
                  </a:schemeClr>
                </a:solidFill>
              </a:defRPr>
            </a:lvl1pPr>
          </a:lstStyle>
          <a:p>
            <a:pPr rtl="0"/>
            <a:r>
              <a:rPr lang="fr-FR" noProof="0"/>
              <a:t>CLIQUEZ POUR MODIFIER LE STYLE DU TITRE DU MASQUE</a:t>
            </a:r>
          </a:p>
        </p:txBody>
      </p:sp>
      <p:sp>
        <p:nvSpPr>
          <p:cNvPr id="3" name="Espace réservé du contenu 2">
            <a:extLst>
              <a:ext uri="{FF2B5EF4-FFF2-40B4-BE49-F238E27FC236}">
                <a16:creationId xmlns:a16="http://schemas.microsoft.com/office/drawing/2014/main" id="{2DA41CE6-5A88-4C5C-B2A4-6A5D2153B16F}"/>
              </a:ext>
            </a:extLst>
          </p:cNvPr>
          <p:cNvSpPr>
            <a:spLocks noGrp="1"/>
          </p:cNvSpPr>
          <p:nvPr>
            <p:ph idx="1" hasCustomPrompt="1"/>
          </p:nvPr>
        </p:nvSpPr>
        <p:spPr>
          <a:xfrm>
            <a:off x="1333499" y="2924175"/>
            <a:ext cx="3171825" cy="2519363"/>
          </a:xfrm>
        </p:spPr>
        <p:txBody>
          <a:bodyPr rtlCol="0">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fr-FR" noProof="0"/>
              <a:t>20XX</a:t>
            </a:r>
          </a:p>
        </p:txBody>
      </p:sp>
      <p:sp>
        <p:nvSpPr>
          <p:cNvPr id="5" name="Espace réservé du pied de page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fr-FR" noProof="0"/>
              <a:t>Pitch Deck</a:t>
            </a:r>
          </a:p>
        </p:txBody>
      </p:sp>
      <p:sp>
        <p:nvSpPr>
          <p:cNvPr id="6" name="Espace réservé du numéro de diapositive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ronologie">
    <p:spTree>
      <p:nvGrpSpPr>
        <p:cNvPr id="1" name=""/>
        <p:cNvGrpSpPr/>
        <p:nvPr/>
      </p:nvGrpSpPr>
      <p:grpSpPr>
        <a:xfrm>
          <a:off x="0" y="0"/>
          <a:ext cx="0" cy="0"/>
          <a:chOff x="0" y="0"/>
          <a:chExt cx="0" cy="0"/>
        </a:xfrm>
      </p:grpSpPr>
      <p:sp>
        <p:nvSpPr>
          <p:cNvPr id="12" name="Graphisme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fr-FR" noProof="0"/>
          </a:p>
        </p:txBody>
      </p:sp>
      <p:sp>
        <p:nvSpPr>
          <p:cNvPr id="2" name="Titr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ICI POUR MODIFIER LE TITRE</a:t>
            </a:r>
          </a:p>
        </p:txBody>
      </p:sp>
      <p:sp>
        <p:nvSpPr>
          <p:cNvPr id="16" name="Espace réservé du texte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FR" noProof="0"/>
              <a:t>CLIQUEZ ICI POUR MODIFIER LES STYLES DU TEXTE</a:t>
            </a:r>
          </a:p>
        </p:txBody>
      </p:sp>
      <p:sp>
        <p:nvSpPr>
          <p:cNvPr id="17" name="Espace réservé du texte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FR" noProof="0"/>
              <a:t>CLIQUEZ ICI POUR MODIFIER LES STYLES DU TEXTE</a:t>
            </a:r>
          </a:p>
        </p:txBody>
      </p:sp>
      <p:sp>
        <p:nvSpPr>
          <p:cNvPr id="18" name="Espace réservé du texte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FR" noProof="0"/>
              <a:t>CLIQUEZ ICI POUR MODIFIER LES STYLES DU TEXTE</a:t>
            </a:r>
          </a:p>
        </p:txBody>
      </p:sp>
      <p:sp>
        <p:nvSpPr>
          <p:cNvPr id="19" name="Espace réservé du texte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FR" noProof="0"/>
              <a:t>CLIQUEZ ICI POUR MODIFIER LES STYLES DU TEXTE</a:t>
            </a:r>
          </a:p>
        </p:txBody>
      </p:sp>
      <p:sp>
        <p:nvSpPr>
          <p:cNvPr id="34" name="Espace réservé du texte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FR" noProof="0"/>
              <a:t>Cliquez ici pour modifier le style du texte</a:t>
            </a:r>
          </a:p>
        </p:txBody>
      </p:sp>
      <p:sp>
        <p:nvSpPr>
          <p:cNvPr id="35" name="Espace réservé du texte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FR" noProof="0"/>
              <a:t>Cliquez ici pour modifier le style du texte</a:t>
            </a:r>
          </a:p>
        </p:txBody>
      </p:sp>
      <p:sp>
        <p:nvSpPr>
          <p:cNvPr id="36" name="Espace réservé du texte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FR" noProof="0"/>
              <a:t>Cliquez ici pour modifier le style du texte</a:t>
            </a:r>
          </a:p>
        </p:txBody>
      </p:sp>
      <p:sp>
        <p:nvSpPr>
          <p:cNvPr id="37" name="Espace réservé du texte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FR" noProof="0"/>
              <a:t>Cliquez ici pour modifier le style du texte</a:t>
            </a:r>
          </a:p>
        </p:txBody>
      </p:sp>
      <p:cxnSp>
        <p:nvCxnSpPr>
          <p:cNvPr id="3" name="Connecteur droit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Connecteur droit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Connecteur droit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Connecteur droit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Espace réservé de la date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fr-FR" noProof="0"/>
              <a:t>20XX</a:t>
            </a:r>
          </a:p>
        </p:txBody>
      </p:sp>
      <p:sp>
        <p:nvSpPr>
          <p:cNvPr id="6" name="Espace réservé du pied de page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vl1pPr>
          </a:lstStyle>
          <a:p>
            <a:pPr rtl="0"/>
            <a:r>
              <a:rPr lang="fr-FR" noProof="0"/>
              <a:t>Pitch Deck</a:t>
            </a:r>
          </a:p>
        </p:txBody>
      </p:sp>
      <p:sp>
        <p:nvSpPr>
          <p:cNvPr id="7" name="Espace réservé du numéro de diapositive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lonne de contenu 3">
    <p:bg>
      <p:bgPr>
        <a:solidFill>
          <a:schemeClr val="accent2"/>
        </a:solidFill>
        <a:effectLst/>
      </p:bgPr>
    </p:bg>
    <p:spTree>
      <p:nvGrpSpPr>
        <p:cNvPr id="1" name=""/>
        <p:cNvGrpSpPr/>
        <p:nvPr/>
      </p:nvGrpSpPr>
      <p:grpSpPr>
        <a:xfrm>
          <a:off x="0" y="0"/>
          <a:ext cx="0" cy="0"/>
          <a:chOff x="0" y="0"/>
          <a:chExt cx="0" cy="0"/>
        </a:xfrm>
      </p:grpSpPr>
      <p:sp>
        <p:nvSpPr>
          <p:cNvPr id="14" name="Titr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15" name="Espace réservé du texte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7" name="Espace réservé du texte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31" name="Espace réservé du texte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POUR AJOUTER UN SOUS-TITRE</a:t>
            </a:r>
          </a:p>
        </p:txBody>
      </p:sp>
      <p:sp>
        <p:nvSpPr>
          <p:cNvPr id="32" name="Espace réservé du texte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33" name="Espace réservé du texte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POUR AJOUTER UN SOUS-TITRE</a:t>
            </a:r>
          </a:p>
        </p:txBody>
      </p:sp>
      <p:sp>
        <p:nvSpPr>
          <p:cNvPr id="34" name="Espace réservé du texte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2" name="Espace réservé du texte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POUR AJOUTER UN SOUS-TITRE</a:t>
            </a:r>
          </a:p>
        </p:txBody>
      </p:sp>
      <p:sp>
        <p:nvSpPr>
          <p:cNvPr id="13" name="Espace réservé du texte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3" name="Espace réservé de la date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fr-FR" noProof="0"/>
              <a:t>20XX</a:t>
            </a:r>
          </a:p>
        </p:txBody>
      </p:sp>
      <p:sp>
        <p:nvSpPr>
          <p:cNvPr id="4" name="Espace réservé du pied de page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fr-FR" noProof="0"/>
              <a:t>Pitch Deck</a:t>
            </a:r>
          </a:p>
        </p:txBody>
      </p:sp>
      <p:sp>
        <p:nvSpPr>
          <p:cNvPr id="5" name="Espace réservé du numéro de diapositive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fr-FR" noProof="0" smtClean="0"/>
              <a:t>‹N°›</a:t>
            </a:fld>
            <a:endParaRPr lang="fr-FR" noProof="0"/>
          </a:p>
        </p:txBody>
      </p:sp>
      <p:cxnSp>
        <p:nvCxnSpPr>
          <p:cNvPr id="2" name="Connecteur droit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sme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sme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lonne de contenu 2">
    <p:bg>
      <p:bgPr>
        <a:solidFill>
          <a:schemeClr val="bg1"/>
        </a:solidFill>
        <a:effectLst/>
      </p:bgPr>
    </p:bg>
    <p:spTree>
      <p:nvGrpSpPr>
        <p:cNvPr id="1" name=""/>
        <p:cNvGrpSpPr/>
        <p:nvPr/>
      </p:nvGrpSpPr>
      <p:grpSpPr>
        <a:xfrm>
          <a:off x="0" y="0"/>
          <a:ext cx="0" cy="0"/>
          <a:chOff x="0" y="0"/>
          <a:chExt cx="0" cy="0"/>
        </a:xfrm>
      </p:grpSpPr>
      <p:sp>
        <p:nvSpPr>
          <p:cNvPr id="14" name="Titr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15" name="Espace réservé du texte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7" name="Espace réservé du texte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6" name="Espace réservé du texte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8" name="Espace réservé du texte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9" name="Espace réservé du texte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20" name="Espace réservé du texte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23" name="Espace réservé du texte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24" name="Espace réservé du texte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3" name="Espace réservé de la date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fr-FR" noProof="0"/>
              <a:t>20XX</a:t>
            </a:r>
          </a:p>
        </p:txBody>
      </p:sp>
      <p:sp>
        <p:nvSpPr>
          <p:cNvPr id="4" name="Espace réservé du pied de page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fr-FR" noProof="0"/>
              <a:t>Pitch Deck</a:t>
            </a:r>
          </a:p>
        </p:txBody>
      </p:sp>
      <p:sp>
        <p:nvSpPr>
          <p:cNvPr id="5" name="Espace réservé du numéro de diapositive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fr-FR" noProof="0" smtClean="0"/>
              <a:pPr rtl="0"/>
              <a:t>‹N°›</a:t>
            </a:fld>
            <a:endParaRPr lang="fr-FR" noProof="0"/>
          </a:p>
        </p:txBody>
      </p:sp>
      <p:pic>
        <p:nvPicPr>
          <p:cNvPr id="2" name="Graphisme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sp>
        <p:nvSpPr>
          <p:cNvPr id="3" name="Espace réservé du texte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1362075" y="3660774"/>
            <a:ext cx="5111750" cy="1525588"/>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Modifiez les styles du texte</a:t>
            </a:r>
          </a:p>
        </p:txBody>
      </p:sp>
      <p:cxnSp>
        <p:nvCxnSpPr>
          <p:cNvPr id="14" name="Connecteur droit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Espace réservé de la date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20XX</a:t>
            </a:r>
          </a:p>
        </p:txBody>
      </p:sp>
      <p:sp>
        <p:nvSpPr>
          <p:cNvPr id="10" name="Espace réservé du pied de page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fr-FR" noProof="0"/>
              <a:t>Pitch Deck</a:t>
            </a:r>
          </a:p>
        </p:txBody>
      </p:sp>
      <p:sp>
        <p:nvSpPr>
          <p:cNvPr id="11" name="Espace réservé du numéro de diapositive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ut de section">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tx1">
                    <a:lumMod val="75000"/>
                    <a:lumOff val="25000"/>
                  </a:schemeClr>
                </a:solidFill>
              </a:defRPr>
            </a:lvl1pPr>
          </a:lstStyle>
          <a:p>
            <a:pPr rtl="0"/>
            <a:r>
              <a:rPr lang="fr-FR" noProof="0"/>
              <a:t>CLIQUEZ ICI POUR MODIFIER LE STYLE DU TITRE</a:t>
            </a:r>
          </a:p>
        </p:txBody>
      </p:sp>
      <p:pic>
        <p:nvPicPr>
          <p:cNvPr id="5" name="Graphisme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itation">
    <p:spTree>
      <p:nvGrpSpPr>
        <p:cNvPr id="1" name=""/>
        <p:cNvGrpSpPr/>
        <p:nvPr/>
      </p:nvGrpSpPr>
      <p:grpSpPr>
        <a:xfrm>
          <a:off x="0" y="0"/>
          <a:ext cx="0" cy="0"/>
          <a:chOff x="0" y="0"/>
          <a:chExt cx="0" cy="0"/>
        </a:xfrm>
      </p:grpSpPr>
      <p:pic>
        <p:nvPicPr>
          <p:cNvPr id="7" name="Graphisme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r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cxnSp>
        <p:nvCxnSpPr>
          <p:cNvPr id="9" name="Connecteur droit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Espace réservé du texte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2" name="Espace réservé du texte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3" name="Espace réservé du texte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4" name="Espace réservé du texte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5" name="Espace réservé du texte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16" name="Espace réservé du texte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17" name="Espace réservé de la date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fr-FR" noProof="0"/>
              <a:t>20XX</a:t>
            </a:r>
          </a:p>
        </p:txBody>
      </p:sp>
      <p:sp>
        <p:nvSpPr>
          <p:cNvPr id="18" name="Espace réservé du pied de page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fr-FR" noProof="0"/>
              <a:t>Pitch Deck</a:t>
            </a:r>
          </a:p>
        </p:txBody>
      </p:sp>
      <p:sp>
        <p:nvSpPr>
          <p:cNvPr id="19" name="Espace réservé du numéro de diapositive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fr-FR" noProof="0" smtClean="0"/>
              <a:pPr rtl="0"/>
              <a:t>‹N°›</a:t>
            </a:fld>
            <a:endParaRPr lang="fr-FR"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rois contenus">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 LE TEXTE</a:t>
            </a:r>
          </a:p>
        </p:txBody>
      </p:sp>
      <p:sp>
        <p:nvSpPr>
          <p:cNvPr id="4" name="Espace réservé du conten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243104"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ICI POUR MODIFIER LE TEXTE</a:t>
            </a:r>
          </a:p>
        </p:txBody>
      </p:sp>
      <p:sp>
        <p:nvSpPr>
          <p:cNvPr id="6" name="Espace réservé du conten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647665" y="3834606"/>
            <a:ext cx="2896671"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21" name="Espace réservé du texte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 LE TEXTE</a:t>
            </a:r>
          </a:p>
        </p:txBody>
      </p:sp>
      <p:sp>
        <p:nvSpPr>
          <p:cNvPr id="22" name="Espace réservé du contenu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8066421"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cxnSp>
        <p:nvCxnSpPr>
          <p:cNvPr id="16" name="Connecteur droit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ison des marchés">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23" name="Espace réservé du texte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24" name="Espace réservé du texte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4" name="Espace réservé du conten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Cliquez ici pour modifier</a:t>
            </a:r>
          </a:p>
        </p:txBody>
      </p:sp>
      <p:sp>
        <p:nvSpPr>
          <p:cNvPr id="6" name="Espace réservé du conten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Cliquez ici pour modifier</a:t>
            </a:r>
          </a:p>
        </p:txBody>
      </p:sp>
      <p:sp>
        <p:nvSpPr>
          <p:cNvPr id="22" name="Espace réservé du contenu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Cliquez pour modifier les styles du texte du masque</a:t>
            </a:r>
          </a:p>
        </p:txBody>
      </p:sp>
      <p:pic>
        <p:nvPicPr>
          <p:cNvPr id="11" name="Graphisme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sme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sme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Espace réservé du contenu 3">
            <a:extLst>
              <a:ext uri="{FF2B5EF4-FFF2-40B4-BE49-F238E27FC236}">
                <a16:creationId xmlns:a16="http://schemas.microsoft.com/office/drawing/2014/main" id="{82D8880F-3EAC-45C9-91F2-19A193791A18}"/>
              </a:ext>
            </a:extLst>
          </p:cNvPr>
          <p:cNvSpPr>
            <a:spLocks noGrp="1"/>
          </p:cNvSpPr>
          <p:nvPr>
            <p:ph sz="half" idx="17" hasCustomPrompt="1"/>
          </p:nvPr>
        </p:nvSpPr>
        <p:spPr>
          <a:xfrm>
            <a:off x="1129698"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Modifiez les styles du texte</a:t>
            </a:r>
          </a:p>
        </p:txBody>
      </p:sp>
      <p:sp>
        <p:nvSpPr>
          <p:cNvPr id="26" name="Espace réservé du contenu 5">
            <a:extLst>
              <a:ext uri="{FF2B5EF4-FFF2-40B4-BE49-F238E27FC236}">
                <a16:creationId xmlns:a16="http://schemas.microsoft.com/office/drawing/2014/main" id="{9019518E-E850-403D-A5B5-4B53F8C4A56B}"/>
              </a:ext>
            </a:extLst>
          </p:cNvPr>
          <p:cNvSpPr>
            <a:spLocks noGrp="1"/>
          </p:cNvSpPr>
          <p:nvPr>
            <p:ph sz="quarter" idx="18" hasCustomPrompt="1"/>
          </p:nvPr>
        </p:nvSpPr>
        <p:spPr>
          <a:xfrm>
            <a:off x="4526261" y="5280763"/>
            <a:ext cx="3139479"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Modifiez les styles du texte</a:t>
            </a:r>
          </a:p>
          <a:p>
            <a:pPr lvl="1" rtl="0"/>
            <a:endParaRPr lang="fr-FR" noProof="0"/>
          </a:p>
        </p:txBody>
      </p:sp>
      <p:sp>
        <p:nvSpPr>
          <p:cNvPr id="27" name="Espace réservé du contenu 3">
            <a:extLst>
              <a:ext uri="{FF2B5EF4-FFF2-40B4-BE49-F238E27FC236}">
                <a16:creationId xmlns:a16="http://schemas.microsoft.com/office/drawing/2014/main" id="{A8058154-45E5-403E-B714-AC85774F391F}"/>
              </a:ext>
            </a:extLst>
          </p:cNvPr>
          <p:cNvSpPr>
            <a:spLocks noGrp="1"/>
          </p:cNvSpPr>
          <p:nvPr>
            <p:ph sz="half" idx="19" hasCustomPrompt="1"/>
          </p:nvPr>
        </p:nvSpPr>
        <p:spPr>
          <a:xfrm>
            <a:off x="7938210"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Modifiez les styles du texte</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Deux contenus">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 LE TEXTE</a:t>
            </a:r>
          </a:p>
        </p:txBody>
      </p:sp>
      <p:sp>
        <p:nvSpPr>
          <p:cNvPr id="4" name="Espace réservé du conten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2933700" y="3834606"/>
            <a:ext cx="3924300"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ICI POUR MODIFIER LE TEXTE</a:t>
            </a:r>
          </a:p>
        </p:txBody>
      </p:sp>
      <p:sp>
        <p:nvSpPr>
          <p:cNvPr id="6" name="Espace réservé du conten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7410173" y="3834606"/>
            <a:ext cx="3943627"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pic>
        <p:nvPicPr>
          <p:cNvPr id="11" name="Graphisme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u">
    <p:spTree>
      <p:nvGrpSpPr>
        <p:cNvPr id="1" name=""/>
        <p:cNvGrpSpPr/>
        <p:nvPr/>
      </p:nvGrpSpPr>
      <p:grpSpPr>
        <a:xfrm>
          <a:off x="0" y="0"/>
          <a:ext cx="0" cy="0"/>
          <a:chOff x="0" y="0"/>
          <a:chExt cx="0" cy="0"/>
        </a:xfrm>
      </p:grpSpPr>
      <p:pic>
        <p:nvPicPr>
          <p:cNvPr id="14" name="Graphisme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r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20" name="Espace réservé du texte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25" name="Espace réservé du texte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26" name="Espace réservé du texte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27" name="Espace réservé du texte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28" name="Espace réservé du texte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FR" noProof="0"/>
              <a:t>CLIQUEZ POUR AJOUTER UN SOUS-TITRE</a:t>
            </a:r>
          </a:p>
        </p:txBody>
      </p:sp>
      <p:sp>
        <p:nvSpPr>
          <p:cNvPr id="29" name="Espace réservé du texte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FR" noProof="0"/>
              <a:t>Cliquer pour ajouter du texte</a:t>
            </a:r>
          </a:p>
        </p:txBody>
      </p:sp>
      <p:sp>
        <p:nvSpPr>
          <p:cNvPr id="21" name="Espace réservé de la date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20XX</a:t>
            </a:r>
          </a:p>
        </p:txBody>
      </p:sp>
      <p:sp>
        <p:nvSpPr>
          <p:cNvPr id="22" name="Espace réservé du pied de page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fr-FR" noProof="0"/>
              <a:t>Pitch Deck</a:t>
            </a:r>
          </a:p>
        </p:txBody>
      </p:sp>
      <p:sp>
        <p:nvSpPr>
          <p:cNvPr id="24" name="Espace réservé du numéro de diapositive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ronologi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tx1">
                  <a:lumMod val="75000"/>
                  <a:lumOff val="25000"/>
                </a:schemeClr>
              </a:solidFill>
            </a:endParaRPr>
          </a:p>
        </p:txBody>
      </p:sp>
      <p:sp>
        <p:nvSpPr>
          <p:cNvPr id="2" name="Titr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fr-FR" noProof="0"/>
              <a:t>MODIFIEZ LE STYLE DU TITRE</a:t>
            </a:r>
          </a:p>
        </p:txBody>
      </p:sp>
      <p:sp>
        <p:nvSpPr>
          <p:cNvPr id="6" name="Espace réservé du texte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fr-FR" noProof="0"/>
              <a:t>Année</a:t>
            </a:r>
          </a:p>
        </p:txBody>
      </p:sp>
      <p:sp>
        <p:nvSpPr>
          <p:cNvPr id="7" name="Espace réservé du texte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8" name="Espace réservé du texte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9" name="Espace réservé du texte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0" name="Espace réservé du texte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1" name="Espace réservé du texte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fr-FR" noProof="0"/>
              <a:t>Année</a:t>
            </a:r>
          </a:p>
        </p:txBody>
      </p:sp>
      <p:sp>
        <p:nvSpPr>
          <p:cNvPr id="12" name="Espace réservé du texte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3" name="Espace réservé du texte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4" name="Espace réservé du texte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5" name="Espace réservé du texte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6" name="Espace réservé du texte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7" name="Espace réservé du texte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8" name="Espace réservé du texte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19" name="Espace réservé du texte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0" name="Espace réservé du texte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1" name="Espace réservé du texte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2" name="Espace réservé du texte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3" name="Espace réservé du texte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4" name="Espace réservé du texte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5" name="Espace réservé du texte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6" name="Espace réservé du texte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7" name="Espace réservé du texte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8" name="Espace réservé du texte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29" name="Espace réservé du texte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30" name="Espace réservé du texte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31" name="Espace réservé du texte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FR" noProof="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tx1">
                  <a:lumMod val="75000"/>
                  <a:lumOff val="25000"/>
                </a:schemeClr>
              </a:solidFill>
            </a:endParaRPr>
          </a:p>
        </p:txBody>
      </p:sp>
      <p:sp>
        <p:nvSpPr>
          <p:cNvPr id="36" name="Espace réservé de la date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20XX</a:t>
            </a:r>
          </a:p>
        </p:txBody>
      </p:sp>
      <p:sp>
        <p:nvSpPr>
          <p:cNvPr id="37" name="Espace réservé du pied de page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fr-FR" noProof="0"/>
              <a:t>Pitch Deck</a:t>
            </a:r>
          </a:p>
        </p:txBody>
      </p:sp>
      <p:sp>
        <p:nvSpPr>
          <p:cNvPr id="38" name="Espace réservé du numéro de diapositive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7" name="Espace réservé SmartArt 6">
            <a:extLst>
              <a:ext uri="{FF2B5EF4-FFF2-40B4-BE49-F238E27FC236}">
                <a16:creationId xmlns:a16="http://schemas.microsoft.com/office/drawing/2014/main" id="{156CA116-0F6E-4EE9-B34F-03BA07161A7A}"/>
              </a:ext>
            </a:extLst>
          </p:cNvPr>
          <p:cNvSpPr>
            <a:spLocks noGrp="1"/>
          </p:cNvSpPr>
          <p:nvPr>
            <p:ph type="dgm" sz="quarter" idx="15" hasCustomPrompt="1"/>
          </p:nvPr>
        </p:nvSpPr>
        <p:spPr>
          <a:xfrm>
            <a:off x="838200" y="2136776"/>
            <a:ext cx="10515600" cy="3697645"/>
          </a:xfrm>
        </p:spPr>
        <p:txBody>
          <a:bodyPr rtlCol="0"/>
          <a:lstStyle>
            <a:lvl1pPr>
              <a:defRPr>
                <a:solidFill>
                  <a:schemeClr val="tx1">
                    <a:lumMod val="75000"/>
                    <a:lumOff val="25000"/>
                  </a:schemeClr>
                </a:solidFill>
              </a:defRPr>
            </a:lvl1pPr>
          </a:lstStyle>
          <a:p>
            <a:pPr rtl="0"/>
            <a:r>
              <a:rPr lang="fr-FR" noProof="0"/>
              <a:t>Cliquez sur l’icône pour ajouter un graphique SmartArt</a:t>
            </a:r>
          </a:p>
        </p:txBody>
      </p:sp>
      <p:sp>
        <p:nvSpPr>
          <p:cNvPr id="2" name="Titr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3" name="Espace réservé de la date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fr-FR" noProof="0"/>
              <a:t>20XX</a:t>
            </a:r>
          </a:p>
        </p:txBody>
      </p:sp>
      <p:sp>
        <p:nvSpPr>
          <p:cNvPr id="4" name="Espace réservé du pied de page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fr-FR" noProof="0"/>
              <a:t>Pitch Deck</a:t>
            </a:r>
          </a:p>
        </p:txBody>
      </p:sp>
      <p:cxnSp>
        <p:nvCxnSpPr>
          <p:cNvPr id="10" name="Connecteur droit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Espace réservé du numéro de diapositive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apositive équipe 4 personnes">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11" name="Espace réservé d’image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487181"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fr-FR" noProof="0"/>
              <a:t>Cliquez sur l’icône pour ajouter une image</a:t>
            </a:r>
          </a:p>
        </p:txBody>
      </p:sp>
      <p:sp>
        <p:nvSpPr>
          <p:cNvPr id="17" name="Espace réservé d’image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3836914"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fr-FR" noProof="0"/>
              <a:t>Cliquez sur l’icône pour ajouter une image</a:t>
            </a:r>
          </a:p>
        </p:txBody>
      </p:sp>
      <p:sp>
        <p:nvSpPr>
          <p:cNvPr id="18" name="Espace réservé d’image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327578" y="2886074"/>
            <a:ext cx="1845511" cy="1845511"/>
          </a:xfrm>
          <a:solidFill>
            <a:schemeClr val="bg1">
              <a:lumMod val="95000"/>
            </a:schemeClr>
          </a:solidFill>
        </p:spPr>
        <p:txBody>
          <a:bodyPr rtlCol="0">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rtl="0"/>
            <a:r>
              <a:rPr lang="fr-FR" noProof="0"/>
              <a:t>Cliquez sur l’icône pour ajouter une image</a:t>
            </a:r>
          </a:p>
        </p:txBody>
      </p:sp>
      <p:sp>
        <p:nvSpPr>
          <p:cNvPr id="19" name="Espace réservé d’image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8747458"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fr-FR" noProof="0"/>
              <a:t>Cliquez sur l’icône pour ajouter une image</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3" name="Espace réservé du texte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4" name="Espace réservé du texte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5" name="Espace réservé du texte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6" name="Espace réservé du texte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7" name="Espace réservé du texte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8" name="Espace réservé du texte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9" name="Espace réservé du texte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cxnSp>
        <p:nvCxnSpPr>
          <p:cNvPr id="10" name="Connecteur droit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positive équipe 8 personnes">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lumMod val="75000"/>
                    <a:lumOff val="25000"/>
                  </a:schemeClr>
                </a:solidFill>
                <a:latin typeface="+mj-lt"/>
                <a:ea typeface="+mj-ea"/>
                <a:cs typeface="+mj-cs"/>
              </a:defRPr>
            </a:lvl1pPr>
          </a:lstStyle>
          <a:p>
            <a:pPr rtl="0"/>
            <a:r>
              <a:rPr lang="fr-FR" noProof="0"/>
              <a:t>CLIQUEZ ICI POUR MODIFIER LE STYLE DU TITRE</a:t>
            </a:r>
          </a:p>
        </p:txBody>
      </p:sp>
      <p:sp>
        <p:nvSpPr>
          <p:cNvPr id="11" name="Espace réservé d’image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17" name="Espace réservé d’image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18" name="Espace réservé d’image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716934" y="2428875"/>
            <a:ext cx="1066800" cy="1066800"/>
          </a:xfrm>
          <a:solidFill>
            <a:schemeClr val="tx1"/>
          </a:solidFill>
        </p:spPr>
        <p:txBody>
          <a:bodyPr rtlCol="0">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fr-FR" noProof="0"/>
              <a:t>Cliquez sur l’icône pour ajouter une image</a:t>
            </a:r>
          </a:p>
        </p:txBody>
      </p:sp>
      <p:sp>
        <p:nvSpPr>
          <p:cNvPr id="19" name="Espace réservé d’image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6" name="Espace réservé du texte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3" name="Espace réservé du texte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7" name="Espace réservé du texte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4" name="Espace réservé du texte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8" name="Espace réservé du texte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5" name="Espace réservé du texte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9" name="Espace réservé du texte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55" name="Espace réservé d’image 10">
            <a:extLst>
              <a:ext uri="{FF2B5EF4-FFF2-40B4-BE49-F238E27FC236}">
                <a16:creationId xmlns:a16="http://schemas.microsoft.com/office/drawing/2014/main" id="{1EBAEB1D-A7F9-4F90-B642-4277D3802BAB}"/>
              </a:ext>
            </a:extLst>
          </p:cNvPr>
          <p:cNvSpPr>
            <a:spLocks noGrp="1"/>
          </p:cNvSpPr>
          <p:nvPr>
            <p:ph type="pic" sz="quarter" idx="26" hasCustomPrompt="1"/>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56" name="Espace réservé d’image 10">
            <a:extLst>
              <a:ext uri="{FF2B5EF4-FFF2-40B4-BE49-F238E27FC236}">
                <a16:creationId xmlns:a16="http://schemas.microsoft.com/office/drawing/2014/main" id="{9461A69E-14C8-4325-89AF-D4257C1C05BA}"/>
              </a:ext>
            </a:extLst>
          </p:cNvPr>
          <p:cNvSpPr>
            <a:spLocks noGrp="1"/>
          </p:cNvSpPr>
          <p:nvPr>
            <p:ph type="pic" sz="quarter" idx="27" hasCustomPrompt="1"/>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57" name="Espace réservé d’image 10">
            <a:extLst>
              <a:ext uri="{FF2B5EF4-FFF2-40B4-BE49-F238E27FC236}">
                <a16:creationId xmlns:a16="http://schemas.microsoft.com/office/drawing/2014/main" id="{0FB38616-82FB-4DAD-A82E-3777ACB41148}"/>
              </a:ext>
            </a:extLst>
          </p:cNvPr>
          <p:cNvSpPr>
            <a:spLocks noGrp="1"/>
          </p:cNvSpPr>
          <p:nvPr>
            <p:ph type="pic" sz="quarter" idx="28" hasCustomPrompt="1"/>
          </p:nvPr>
        </p:nvSpPr>
        <p:spPr>
          <a:xfrm>
            <a:off x="6716934" y="4287711"/>
            <a:ext cx="1066800" cy="1066800"/>
          </a:xfrm>
          <a:solidFill>
            <a:schemeClr val="tx1"/>
          </a:solidFill>
        </p:spPr>
        <p:txBody>
          <a:bodyPr rtlCol="0">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fr-FR" noProof="0"/>
              <a:t>Cliquez sur l’icône pour ajouter une image</a:t>
            </a:r>
          </a:p>
        </p:txBody>
      </p:sp>
      <p:sp>
        <p:nvSpPr>
          <p:cNvPr id="58" name="Espace réservé d’image 10">
            <a:extLst>
              <a:ext uri="{FF2B5EF4-FFF2-40B4-BE49-F238E27FC236}">
                <a16:creationId xmlns:a16="http://schemas.microsoft.com/office/drawing/2014/main" id="{622ED9F4-EB9B-4588-8501-BFECB846EE73}"/>
              </a:ext>
            </a:extLst>
          </p:cNvPr>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FR" noProof="0"/>
              <a:t>Cliquez sur l’icône pour ajouter une image</a:t>
            </a:r>
          </a:p>
        </p:txBody>
      </p:sp>
      <p:sp>
        <p:nvSpPr>
          <p:cNvPr id="54" name="Espace réservé du texte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2" name="Espace réservé du texte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59" name="Espace réservé du texte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3" name="Espace réservé du texte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0" name="Espace réservé du texte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4" name="Espace réservé du texte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1" name="Espace réservé du texte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65" name="Espace réservé du texte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fr-FR" noProof="0" smtClean="0"/>
              <a:t>‹N°›</a:t>
            </a:fld>
            <a:endParaRPr lang="fr-FR" noProof="0"/>
          </a:p>
        </p:txBody>
      </p:sp>
      <p:pic>
        <p:nvPicPr>
          <p:cNvPr id="13" name="Graphisme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sme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u">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FR" noProof="0"/>
              <a:t>CLIQUEZ ICI POUR MODIFIER LE STYLE DU TITRE</a:t>
            </a:r>
          </a:p>
        </p:txBody>
      </p:sp>
      <p:sp>
        <p:nvSpPr>
          <p:cNvPr id="11" name="Espace réservé du contenu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FR" noProof="0"/>
              <a:t>Cliquez ici pour ajouter du contenu</a:t>
            </a:r>
          </a:p>
        </p:txBody>
      </p:sp>
      <p:sp>
        <p:nvSpPr>
          <p:cNvPr id="3" name="Espace réservé d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17" name="Espace réservé du texte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4" name="Espace réservé du conten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200"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FR" noProof="0"/>
              <a:t>Modifiez les styles du texte</a:t>
            </a:r>
          </a:p>
        </p:txBody>
      </p:sp>
      <p:sp>
        <p:nvSpPr>
          <p:cNvPr id="24" name="Espace réservé du contenu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FR" noProof="0"/>
              <a:t>Cliquez ici pour ajouter du contenu</a:t>
            </a:r>
          </a:p>
        </p:txBody>
      </p:sp>
      <p:sp>
        <p:nvSpPr>
          <p:cNvPr id="5" name="Espace réservé du texte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18" name="Espace réservé du texte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fr-FR" noProof="0"/>
              <a:t>CLIQUEZ ICI POUR MODIFIER</a:t>
            </a:r>
          </a:p>
        </p:txBody>
      </p:sp>
      <p:sp>
        <p:nvSpPr>
          <p:cNvPr id="6" name="Espace réservé du conten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3562665" y="5120722"/>
            <a:ext cx="2342205"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FR" noProof="0"/>
              <a:t>Modifiez les styles du texte</a:t>
            </a:r>
          </a:p>
        </p:txBody>
      </p:sp>
      <p:sp>
        <p:nvSpPr>
          <p:cNvPr id="25" name="Espace réservé du contenu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FR" noProof="0"/>
              <a:t>Cliquez ici pour ajouter du contenu</a:t>
            </a:r>
          </a:p>
        </p:txBody>
      </p:sp>
      <p:sp>
        <p:nvSpPr>
          <p:cNvPr id="21" name="Espace réservé du texte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19" name="Espace réservé du texte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sp>
        <p:nvSpPr>
          <p:cNvPr id="22" name="Espace réservé du contenu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FR" noProof="0"/>
              <a:t>Modifiez les styles du texte</a:t>
            </a:r>
          </a:p>
        </p:txBody>
      </p:sp>
      <p:sp>
        <p:nvSpPr>
          <p:cNvPr id="26" name="Espace réservé du contenu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FR" noProof="0"/>
              <a:t>Cliquez ici pour ajouter du contenu</a:t>
            </a:r>
          </a:p>
        </p:txBody>
      </p:sp>
      <p:sp>
        <p:nvSpPr>
          <p:cNvPr id="14" name="Espace réservé du texte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a:t>
            </a:r>
          </a:p>
        </p:txBody>
      </p:sp>
      <p:sp>
        <p:nvSpPr>
          <p:cNvPr id="23" name="Espace réservé du texte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ICI POUR MODIFIER</a:t>
            </a:r>
          </a:p>
        </p:txBody>
      </p:sp>
      <p:cxnSp>
        <p:nvCxnSpPr>
          <p:cNvPr id="16" name="Connecteur droit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Espace réservé du contenu 3">
            <a:extLst>
              <a:ext uri="{FF2B5EF4-FFF2-40B4-BE49-F238E27FC236}">
                <a16:creationId xmlns:a16="http://schemas.microsoft.com/office/drawing/2014/main" id="{492F9083-A886-4EEB-94D6-1FAE6DC33000}"/>
              </a:ext>
            </a:extLst>
          </p:cNvPr>
          <p:cNvSpPr>
            <a:spLocks noGrp="1"/>
          </p:cNvSpPr>
          <p:nvPr>
            <p:ph sz="half" idx="16" hasCustomPrompt="1"/>
          </p:nvPr>
        </p:nvSpPr>
        <p:spPr>
          <a:xfrm>
            <a:off x="9023074" y="5120366"/>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FR" noProof="0"/>
              <a:t>Modifiez les styles du texte</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20XX</a:t>
            </a:r>
          </a:p>
        </p:txBody>
      </p:sp>
      <p:sp>
        <p:nvSpPr>
          <p:cNvPr id="8" name="Espace réservé d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FR" noProof="0"/>
              <a:t>Pitch Deck</a:t>
            </a:r>
          </a:p>
        </p:txBody>
      </p:sp>
      <p:sp>
        <p:nvSpPr>
          <p:cNvPr id="9" name="Espace réservé du numéro de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ynthès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FR" noProof="0"/>
              <a:t>CLIQUEZ POUR MODIFIER LE STYLE DU TITRE DU MASQUE</a:t>
            </a:r>
          </a:p>
        </p:txBody>
      </p:sp>
      <p:sp>
        <p:nvSpPr>
          <p:cNvPr id="3" name="Espace réservé du texte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5476875" y="3682546"/>
            <a:ext cx="5111750" cy="1525588"/>
          </a:xfrm>
        </p:spPr>
        <p:txBody>
          <a:bodyPr rtlCol="0"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Modifiez les styles du texte</a:t>
            </a:r>
          </a:p>
        </p:txBody>
      </p:sp>
      <p:cxnSp>
        <p:nvCxnSpPr>
          <p:cNvPr id="23" name="Connecteur droit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Espace réservé de la date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20XX</a:t>
            </a:r>
          </a:p>
        </p:txBody>
      </p:sp>
      <p:sp>
        <p:nvSpPr>
          <p:cNvPr id="22" name="Espace réservé du pied de page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fr-FR" noProof="0"/>
              <a:t>Pitch Deck</a:t>
            </a:r>
          </a:p>
        </p:txBody>
      </p:sp>
      <p:sp>
        <p:nvSpPr>
          <p:cNvPr id="24" name="Espace réservé du numéro de diapositive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onclusion">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tx1">
                    <a:lumMod val="75000"/>
                    <a:lumOff val="25000"/>
                  </a:schemeClr>
                </a:solidFill>
              </a:defRPr>
            </a:lvl1pPr>
          </a:lstStyle>
          <a:p>
            <a:pPr rtl="0"/>
            <a:r>
              <a:rPr lang="fr-FR" noProof="0"/>
              <a:t>CLIQUEZ POUR MODIFIER LE STYLE DU TITRE DU MASQUE</a:t>
            </a:r>
          </a:p>
        </p:txBody>
      </p:sp>
      <p:sp>
        <p:nvSpPr>
          <p:cNvPr id="3" name="Sous-titr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rtlCol="0">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pic>
        <p:nvPicPr>
          <p:cNvPr id="6" name="Graphisme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Espace réservé de la date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fr-FR" noProof="0"/>
              <a:t>20XX</a:t>
            </a:r>
          </a:p>
        </p:txBody>
      </p:sp>
      <p:sp>
        <p:nvSpPr>
          <p:cNvPr id="10" name="Espace réservé du pied de page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fr-FR" noProof="0"/>
              <a:t>Pitch Deck</a:t>
            </a:r>
          </a:p>
        </p:txBody>
      </p:sp>
      <p:sp>
        <p:nvSpPr>
          <p:cNvPr id="11" name="Espace réservé du numéro de diapositive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fr-FR" noProof="0" smtClean="0"/>
              <a:t>‹N°›</a:t>
            </a:fld>
            <a:endParaRPr lang="fr-FR"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fr-FR" noProof="0"/>
              <a:t>Modifiez le style du titre</a:t>
            </a:r>
          </a:p>
        </p:txBody>
      </p:sp>
      <p:sp>
        <p:nvSpPr>
          <p:cNvPr id="3" name="Espace réservé du texte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fr-FR" noProof="0"/>
              <a:t>20XX</a:t>
            </a:r>
          </a:p>
        </p:txBody>
      </p:sp>
      <p:sp>
        <p:nvSpPr>
          <p:cNvPr id="5" name="Espace réservé du pied de page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fr-FR" noProof="0"/>
              <a:t>Pitch Deck</a:t>
            </a:r>
          </a:p>
        </p:txBody>
      </p:sp>
      <p:sp>
        <p:nvSpPr>
          <p:cNvPr id="6" name="Espace réservé du numéro de diapositive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fr-FR" noProof="0" smtClean="0"/>
              <a:pPr rtl="0"/>
              <a:t>‹N°›</a:t>
            </a:fld>
            <a:endParaRPr lang="fr-FR"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5.xml"/><Relationship Id="rId5" Type="http://schemas.openxmlformats.org/officeDocument/2006/relationships/image" Target="../media/image29.png"/><Relationship Id="rId4" Type="http://schemas.openxmlformats.org/officeDocument/2006/relationships/image" Target="../media/image28.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28.sv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28.sv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28.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41.jpe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28.svg"/></Relationships>
</file>

<file path=ppt/slides/_rels/slide1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43.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7.jpeg"/><Relationship Id="rId7" Type="http://schemas.openxmlformats.org/officeDocument/2006/relationships/image" Target="../media/image28.sv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4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3">
            <a:extLst>
              <a:ext uri="{FF2B5EF4-FFF2-40B4-BE49-F238E27FC236}">
                <a16:creationId xmlns:a16="http://schemas.microsoft.com/office/drawing/2014/main" id="{5D06D981-B154-F5F3-1907-60FDB08EDDB6}"/>
              </a:ext>
            </a:extLst>
          </p:cNvPr>
          <p:cNvSpPr/>
          <p:nvPr/>
        </p:nvSpPr>
        <p:spPr>
          <a:xfrm>
            <a:off x="-1395757" y="3254713"/>
            <a:ext cx="15025779" cy="2749626"/>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MA"/>
          </a:p>
        </p:txBody>
      </p:sp>
      <p:pic>
        <p:nvPicPr>
          <p:cNvPr id="4" name="Image 3" descr="Une image contenant texte, Police, Graphique, graphisme&#10;&#10;Le contenu généré par l’IA peut être incorrect.">
            <a:extLst>
              <a:ext uri="{FF2B5EF4-FFF2-40B4-BE49-F238E27FC236}">
                <a16:creationId xmlns:a16="http://schemas.microsoft.com/office/drawing/2014/main" id="{03221F3E-7D75-14E2-25FF-A047A6DEDA1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342" y="379754"/>
            <a:ext cx="3709219" cy="811391"/>
          </a:xfrm>
          <a:prstGeom prst="rect">
            <a:avLst/>
          </a:prstGeom>
        </p:spPr>
      </p:pic>
      <p:sp>
        <p:nvSpPr>
          <p:cNvPr id="30" name="ZoneTexte 29">
            <a:extLst>
              <a:ext uri="{FF2B5EF4-FFF2-40B4-BE49-F238E27FC236}">
                <a16:creationId xmlns:a16="http://schemas.microsoft.com/office/drawing/2014/main" id="{E2F61E3F-13D1-3F3C-7AA1-A9B535E72632}"/>
              </a:ext>
            </a:extLst>
          </p:cNvPr>
          <p:cNvSpPr txBox="1"/>
          <p:nvPr/>
        </p:nvSpPr>
        <p:spPr>
          <a:xfrm>
            <a:off x="731493" y="5273879"/>
            <a:ext cx="2850916" cy="307777"/>
          </a:xfrm>
          <a:prstGeom prst="rect">
            <a:avLst/>
          </a:prstGeom>
          <a:noFill/>
        </p:spPr>
        <p:txBody>
          <a:bodyPr wrap="square">
            <a:spAutoFit/>
          </a:bodyPr>
          <a:lstStyle/>
          <a:p>
            <a:r>
              <a:rPr lang="fr-MA" sz="1400" b="1" dirty="0">
                <a:solidFill>
                  <a:srgbClr val="000000"/>
                </a:solidFill>
                <a:latin typeface="Neue Machina"/>
              </a:rPr>
              <a:t>Présenté par : Imane Dahbi</a:t>
            </a:r>
          </a:p>
        </p:txBody>
      </p:sp>
      <p:sp>
        <p:nvSpPr>
          <p:cNvPr id="31" name="ZoneTexte 30">
            <a:extLst>
              <a:ext uri="{FF2B5EF4-FFF2-40B4-BE49-F238E27FC236}">
                <a16:creationId xmlns:a16="http://schemas.microsoft.com/office/drawing/2014/main" id="{AB53945C-D3C0-5F05-36C2-6FD3832B3D49}"/>
              </a:ext>
            </a:extLst>
          </p:cNvPr>
          <p:cNvSpPr txBox="1"/>
          <p:nvPr/>
        </p:nvSpPr>
        <p:spPr>
          <a:xfrm>
            <a:off x="5639544" y="5273878"/>
            <a:ext cx="6693173" cy="307777"/>
          </a:xfrm>
          <a:prstGeom prst="rect">
            <a:avLst/>
          </a:prstGeom>
          <a:noFill/>
        </p:spPr>
        <p:txBody>
          <a:bodyPr wrap="square">
            <a:spAutoFit/>
          </a:bodyPr>
          <a:lstStyle/>
          <a:p>
            <a:r>
              <a:rPr lang="fr-MA" sz="1400" b="1" dirty="0">
                <a:solidFill>
                  <a:srgbClr val="000000"/>
                </a:solidFill>
                <a:latin typeface="Neue Machina"/>
              </a:rPr>
              <a:t>Jury de soutenance : Mme Kaoutar </a:t>
            </a:r>
            <a:r>
              <a:rPr lang="fr-MA" sz="1400" b="1" dirty="0" err="1">
                <a:solidFill>
                  <a:srgbClr val="000000"/>
                </a:solidFill>
                <a:latin typeface="Neue Machina"/>
              </a:rPr>
              <a:t>Karboub</a:t>
            </a:r>
            <a:r>
              <a:rPr lang="fr-MA" sz="1400" b="1" dirty="0">
                <a:solidFill>
                  <a:srgbClr val="000000"/>
                </a:solidFill>
                <a:latin typeface="Neue Machina"/>
              </a:rPr>
              <a:t> et Mme Amina </a:t>
            </a:r>
            <a:r>
              <a:rPr lang="fr-MA" sz="1400" b="1" dirty="0" err="1">
                <a:solidFill>
                  <a:srgbClr val="000000"/>
                </a:solidFill>
                <a:latin typeface="Neue Machina"/>
              </a:rPr>
              <a:t>Ouatiq</a:t>
            </a:r>
            <a:endParaRPr lang="fr-MA" sz="1400" b="1" dirty="0">
              <a:solidFill>
                <a:srgbClr val="000000"/>
              </a:solidFill>
              <a:latin typeface="Neue Machina"/>
            </a:endParaRPr>
          </a:p>
        </p:txBody>
      </p:sp>
      <p:sp>
        <p:nvSpPr>
          <p:cNvPr id="33" name="Titre 1">
            <a:extLst>
              <a:ext uri="{FF2B5EF4-FFF2-40B4-BE49-F238E27FC236}">
                <a16:creationId xmlns:a16="http://schemas.microsoft.com/office/drawing/2014/main" id="{DD75E549-7F14-ECB0-FDB3-D2EC48558BE4}"/>
              </a:ext>
            </a:extLst>
          </p:cNvPr>
          <p:cNvSpPr txBox="1">
            <a:spLocks/>
          </p:cNvSpPr>
          <p:nvPr/>
        </p:nvSpPr>
        <p:spPr>
          <a:xfrm>
            <a:off x="1251154" y="2078158"/>
            <a:ext cx="9689691" cy="1664355"/>
          </a:xfrm>
          <a:prstGeom prst="rect">
            <a:avLst/>
          </a:prstGeom>
          <a:noFill/>
          <a:ln w="76200" cap="flat" cmpd="sng" algn="ctr">
            <a:solidFill>
              <a:schemeClr val="tx1"/>
            </a:solidFill>
            <a:prstDash val="solid"/>
            <a:miter lim="800000"/>
          </a:ln>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fr-FR" sz="4000" b="1" dirty="0">
                <a:solidFill>
                  <a:srgbClr val="343232"/>
                </a:solidFill>
                <a:latin typeface="Catchy Mager"/>
              </a:rPr>
              <a:t>Application Web de Messagerie en Temps Réel</a:t>
            </a:r>
            <a:endParaRPr lang="fr-MA" sz="4000" b="1" dirty="0">
              <a:solidFill>
                <a:srgbClr val="343232"/>
              </a:solidFill>
              <a:latin typeface="Catchy Mager"/>
            </a:endParaRPr>
          </a:p>
        </p:txBody>
      </p:sp>
      <p:sp>
        <p:nvSpPr>
          <p:cNvPr id="34" name="Sous-titre 2">
            <a:extLst>
              <a:ext uri="{FF2B5EF4-FFF2-40B4-BE49-F238E27FC236}">
                <a16:creationId xmlns:a16="http://schemas.microsoft.com/office/drawing/2014/main" id="{29001EA9-8C7E-3707-67CA-E8EF7B65B048}"/>
              </a:ext>
            </a:extLst>
          </p:cNvPr>
          <p:cNvSpPr txBox="1">
            <a:spLocks/>
          </p:cNvSpPr>
          <p:nvPr/>
        </p:nvSpPr>
        <p:spPr>
          <a:xfrm>
            <a:off x="2701953" y="3604738"/>
            <a:ext cx="7002486" cy="903458"/>
          </a:xfrm>
          <a:prstGeom prst="rect">
            <a:avLst/>
          </a:prstGeom>
          <a:solidFill>
            <a:schemeClr val="tx1"/>
          </a:solidFill>
        </p:spPr>
        <p:txBody>
          <a:bodyPr rtlCol="0"/>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b="1" dirty="0">
              <a:solidFill>
                <a:schemeClr val="bg1"/>
              </a:solidFill>
            </a:endParaRPr>
          </a:p>
        </p:txBody>
      </p:sp>
      <p:sp>
        <p:nvSpPr>
          <p:cNvPr id="29" name="ZoneTexte 28">
            <a:extLst>
              <a:ext uri="{FF2B5EF4-FFF2-40B4-BE49-F238E27FC236}">
                <a16:creationId xmlns:a16="http://schemas.microsoft.com/office/drawing/2014/main" id="{AF727F03-1A2A-4E0E-8E96-C8BE53FAA224}"/>
              </a:ext>
            </a:extLst>
          </p:cNvPr>
          <p:cNvSpPr txBox="1"/>
          <p:nvPr/>
        </p:nvSpPr>
        <p:spPr>
          <a:xfrm>
            <a:off x="4331140" y="4122243"/>
            <a:ext cx="3571986" cy="338554"/>
          </a:xfrm>
          <a:prstGeom prst="rect">
            <a:avLst/>
          </a:prstGeom>
          <a:noFill/>
        </p:spPr>
        <p:txBody>
          <a:bodyPr wrap="square">
            <a:spAutoFit/>
          </a:bodyPr>
          <a:lstStyle/>
          <a:p>
            <a:r>
              <a:rPr lang="fr-MA" sz="1600" b="1" dirty="0">
                <a:solidFill>
                  <a:schemeClr val="bg2"/>
                </a:solidFill>
                <a:latin typeface="Neue Machina"/>
              </a:rPr>
              <a:t>Année universitaire : 2024 – 2025</a:t>
            </a:r>
          </a:p>
        </p:txBody>
      </p:sp>
      <p:sp>
        <p:nvSpPr>
          <p:cNvPr id="32" name="ZoneTexte 31">
            <a:extLst>
              <a:ext uri="{FF2B5EF4-FFF2-40B4-BE49-F238E27FC236}">
                <a16:creationId xmlns:a16="http://schemas.microsoft.com/office/drawing/2014/main" id="{DC94131B-A88C-4010-544D-286C61B0DF0A}"/>
              </a:ext>
            </a:extLst>
          </p:cNvPr>
          <p:cNvSpPr txBox="1"/>
          <p:nvPr/>
        </p:nvSpPr>
        <p:spPr>
          <a:xfrm>
            <a:off x="3582409" y="3789910"/>
            <a:ext cx="4775440" cy="338554"/>
          </a:xfrm>
          <a:prstGeom prst="rect">
            <a:avLst/>
          </a:prstGeom>
          <a:noFill/>
        </p:spPr>
        <p:txBody>
          <a:bodyPr wrap="square">
            <a:spAutoFit/>
          </a:bodyPr>
          <a:lstStyle/>
          <a:p>
            <a:pPr algn="ctr"/>
            <a:r>
              <a:rPr lang="fr-FR" sz="1600" b="1" dirty="0">
                <a:solidFill>
                  <a:schemeClr val="bg2"/>
                </a:solidFill>
                <a:latin typeface="Neue Machina"/>
              </a:rPr>
              <a:t>Filière : Ingénierie Informatique et Réseaux</a:t>
            </a:r>
            <a:endParaRPr lang="fr-MA" sz="1600" b="1" dirty="0">
              <a:solidFill>
                <a:schemeClr val="bg2"/>
              </a:solidFill>
              <a:latin typeface="Neue Machina"/>
            </a:endParaRP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0BEB5-82E1-CB0C-5C09-7FAC245B2B9A}"/>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20FFE9AA-599A-C953-298E-3AFDFA76EF56}"/>
              </a:ext>
            </a:extLst>
          </p:cNvPr>
          <p:cNvSpPr txBox="1"/>
          <p:nvPr/>
        </p:nvSpPr>
        <p:spPr>
          <a:xfrm>
            <a:off x="356420" y="841287"/>
            <a:ext cx="4613787" cy="492443"/>
          </a:xfrm>
          <a:prstGeom prst="rect">
            <a:avLst/>
          </a:prstGeom>
        </p:spPr>
        <p:txBody>
          <a:bodyPr wrap="square" lIns="0" tIns="0" rIns="0" bIns="0" rtlCol="0" anchor="t">
            <a:spAutoFit/>
          </a:bodyPr>
          <a:lstStyle/>
          <a:p>
            <a:pPr algn="ctr"/>
            <a:r>
              <a:rPr lang="fr-MA" sz="3200" b="1" dirty="0">
                <a:solidFill>
                  <a:srgbClr val="343232"/>
                </a:solidFill>
                <a:latin typeface="Catchy Mager"/>
              </a:rPr>
              <a:t>Plan de Présentation</a:t>
            </a:r>
          </a:p>
        </p:txBody>
      </p:sp>
      <p:graphicFrame>
        <p:nvGraphicFramePr>
          <p:cNvPr id="5" name="Table 4">
            <a:extLst>
              <a:ext uri="{FF2B5EF4-FFF2-40B4-BE49-F238E27FC236}">
                <a16:creationId xmlns:a16="http://schemas.microsoft.com/office/drawing/2014/main" id="{0F9663EB-6600-7F28-880D-DD9BB75EE442}"/>
              </a:ext>
            </a:extLst>
          </p:cNvPr>
          <p:cNvGraphicFramePr>
            <a:graphicFrameLocks noGrp="1"/>
          </p:cNvGraphicFramePr>
          <p:nvPr>
            <p:extLst>
              <p:ext uri="{D42A27DB-BD31-4B8C-83A1-F6EECF244321}">
                <p14:modId xmlns:p14="http://schemas.microsoft.com/office/powerpoint/2010/main" val="1045671154"/>
              </p:ext>
            </p:extLst>
          </p:nvPr>
        </p:nvGraphicFramePr>
        <p:xfrm>
          <a:off x="503904" y="1946787"/>
          <a:ext cx="11469820" cy="3276772"/>
        </p:xfrm>
        <a:graphic>
          <a:graphicData uri="http://schemas.openxmlformats.org/drawingml/2006/table">
            <a:tbl>
              <a:tblPr/>
              <a:tblGrid>
                <a:gridCol w="749747">
                  <a:extLst>
                    <a:ext uri="{9D8B030D-6E8A-4147-A177-3AD203B41FA5}">
                      <a16:colId xmlns:a16="http://schemas.microsoft.com/office/drawing/2014/main" val="20000"/>
                    </a:ext>
                  </a:extLst>
                </a:gridCol>
                <a:gridCol w="5740643">
                  <a:extLst>
                    <a:ext uri="{9D8B030D-6E8A-4147-A177-3AD203B41FA5}">
                      <a16:colId xmlns:a16="http://schemas.microsoft.com/office/drawing/2014/main" val="20001"/>
                    </a:ext>
                  </a:extLst>
                </a:gridCol>
                <a:gridCol w="717222">
                  <a:extLst>
                    <a:ext uri="{9D8B030D-6E8A-4147-A177-3AD203B41FA5}">
                      <a16:colId xmlns:a16="http://schemas.microsoft.com/office/drawing/2014/main" val="20002"/>
                    </a:ext>
                  </a:extLst>
                </a:gridCol>
                <a:gridCol w="4262208">
                  <a:extLst>
                    <a:ext uri="{9D8B030D-6E8A-4147-A177-3AD203B41FA5}">
                      <a16:colId xmlns:a16="http://schemas.microsoft.com/office/drawing/2014/main" val="20003"/>
                    </a:ext>
                  </a:extLst>
                </a:gridCol>
              </a:tblGrid>
              <a:tr h="840658">
                <a:tc>
                  <a:txBody>
                    <a:bodyPr/>
                    <a:lstStyle/>
                    <a:p>
                      <a:pPr marL="0" algn="ctr" defTabSz="914400" rtl="0" eaLnBrk="1" latinLnBrk="0" hangingPunct="1">
                        <a:lnSpc>
                          <a:spcPts val="3919"/>
                        </a:lnSpc>
                        <a:defRPr/>
                      </a:pPr>
                      <a:r>
                        <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a typeface="Catchy Mager"/>
                          <a:cs typeface="Catchy Mager"/>
                          <a:sym typeface="Catchy Mager"/>
                        </a:rPr>
                        <a:t>01</a:t>
                      </a:r>
                      <a:endPar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algn="l">
                        <a:lnSpc>
                          <a:spcPts val="3499"/>
                        </a:lnSpc>
                        <a:defRPr/>
                      </a:pPr>
                      <a:r>
                        <a:rPr lang="fr-MA" sz="1600" dirty="0"/>
                        <a:t>Introduction</a:t>
                      </a:r>
                      <a:endParaRPr lang="en-US" sz="16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marL="0" algn="ctr" defTabSz="914400" rtl="0" eaLnBrk="1" latinLnBrk="0" hangingPunct="1">
                        <a:lnSpc>
                          <a:spcPts val="3919"/>
                        </a:lnSpc>
                        <a:defRPr/>
                      </a:pPr>
                      <a:r>
                        <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a typeface="DM Serif Display"/>
                          <a:cs typeface="DM Serif Display"/>
                          <a:sym typeface="DM Serif Display"/>
                        </a:rPr>
                        <a:t>06</a:t>
                      </a:r>
                      <a:endPar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marL="0" marR="0" lvl="0" indent="0" algn="l" defTabSz="914400" rtl="0" eaLnBrk="1" fontAlgn="auto" latinLnBrk="0" hangingPunct="1">
                        <a:lnSpc>
                          <a:spcPts val="3499"/>
                        </a:lnSpc>
                        <a:spcBef>
                          <a:spcPts val="0"/>
                        </a:spcBef>
                        <a:spcAft>
                          <a:spcPts val="0"/>
                        </a:spcAft>
                        <a:buClrTx/>
                        <a:buSzTx/>
                        <a:buFontTx/>
                        <a:buNone/>
                        <a:tabLst/>
                        <a:defRPr/>
                      </a:pPr>
                      <a:r>
                        <a:rPr lang="en-US" sz="1600" dirty="0"/>
                        <a:t>Conception et </a:t>
                      </a:r>
                      <a:r>
                        <a:rPr lang="en-US" sz="1600" dirty="0" err="1"/>
                        <a:t>analyse</a:t>
                      </a:r>
                      <a:r>
                        <a:rPr lang="en-US" sz="1600" dirty="0"/>
                        <a:t> </a:t>
                      </a:r>
                      <a:endParaRPr lang="en-US" sz="1600" kern="1200" dirty="0">
                        <a:solidFill>
                          <a:schemeClr val="tx1"/>
                        </a:solidFill>
                        <a:latin typeface="+mn-lt"/>
                        <a:ea typeface="+mn-ea"/>
                        <a:cs typeface="+mn-cs"/>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9525"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0"/>
                  </a:ext>
                </a:extLst>
              </a:tr>
              <a:tr h="693876">
                <a:tc>
                  <a:txBody>
                    <a:bodyPr/>
                    <a:lstStyle/>
                    <a:p>
                      <a:pPr algn="ctr">
                        <a:lnSpc>
                          <a:spcPts val="3919"/>
                        </a:lnSpc>
                        <a:defRPr/>
                      </a:pPr>
                      <a:r>
                        <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a typeface="DM Serif Display"/>
                          <a:cs typeface="DM Serif Display"/>
                          <a:sym typeface="DM Serif Display"/>
                        </a:rPr>
                        <a:t>02</a:t>
                      </a:r>
                      <a:endPar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algn="l">
                        <a:lnSpc>
                          <a:spcPts val="3499"/>
                        </a:lnSpc>
                        <a:defRPr/>
                      </a:pPr>
                      <a:r>
                        <a:rPr lang="fr-MA" sz="1600" dirty="0"/>
                        <a:t>Contexte du Projet</a:t>
                      </a:r>
                      <a:endParaRPr lang="en-US" sz="16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marL="0" algn="ctr" defTabSz="914400" rtl="0" eaLnBrk="1" latinLnBrk="0" hangingPunct="1">
                        <a:lnSpc>
                          <a:spcPts val="3919"/>
                        </a:lnSpc>
                        <a:defRPr/>
                      </a:pPr>
                      <a:r>
                        <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a typeface="DM Serif Display"/>
                          <a:cs typeface="DM Serif Display"/>
                          <a:sym typeface="DM Serif Display"/>
                        </a:rPr>
                        <a:t>07</a:t>
                      </a:r>
                      <a:endPar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marL="0" marR="0" lvl="0" indent="0" algn="l" defTabSz="914400" rtl="0" eaLnBrk="1" fontAlgn="auto" latinLnBrk="0" hangingPunct="1">
                        <a:lnSpc>
                          <a:spcPts val="3499"/>
                        </a:lnSpc>
                        <a:spcBef>
                          <a:spcPts val="0"/>
                        </a:spcBef>
                        <a:spcAft>
                          <a:spcPts val="0"/>
                        </a:spcAft>
                        <a:buClrTx/>
                        <a:buSzTx/>
                        <a:buFontTx/>
                        <a:buNone/>
                        <a:tabLst/>
                        <a:defRPr/>
                      </a:pPr>
                      <a:r>
                        <a:rPr lang="en-US" sz="1600" kern="1200" dirty="0">
                          <a:solidFill>
                            <a:schemeClr val="tx1"/>
                          </a:solidFill>
                          <a:latin typeface="+mn-lt"/>
                          <a:ea typeface="+mn-ea"/>
                          <a:cs typeface="+mn-cs"/>
                        </a:rPr>
                        <a:t>Technologie </a:t>
                      </a:r>
                      <a:r>
                        <a:rPr lang="en-US" sz="1600" kern="1200" dirty="0" err="1">
                          <a:solidFill>
                            <a:schemeClr val="tx1"/>
                          </a:solidFill>
                          <a:latin typeface="+mn-lt"/>
                          <a:ea typeface="+mn-ea"/>
                          <a:cs typeface="+mn-cs"/>
                        </a:rPr>
                        <a:t>utilisées</a:t>
                      </a:r>
                      <a:r>
                        <a:rPr lang="en-US" sz="1600" kern="1200" dirty="0">
                          <a:solidFill>
                            <a:schemeClr val="tx1"/>
                          </a:solidFill>
                          <a:latin typeface="+mn-lt"/>
                          <a:ea typeface="+mn-ea"/>
                          <a:cs typeface="+mn-cs"/>
                        </a:rPr>
                        <a:t> </a:t>
                      </a: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1"/>
                  </a:ext>
                </a:extLst>
              </a:tr>
              <a:tr h="721366">
                <a:tc>
                  <a:txBody>
                    <a:bodyPr/>
                    <a:lstStyle/>
                    <a:p>
                      <a:pPr algn="ctr">
                        <a:lnSpc>
                          <a:spcPts val="3919"/>
                        </a:lnSpc>
                        <a:defRPr/>
                      </a:pPr>
                      <a:r>
                        <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a typeface="DM Serif Display"/>
                          <a:cs typeface="DM Serif Display"/>
                          <a:sym typeface="DM Serif Display"/>
                        </a:rPr>
                        <a:t>03</a:t>
                      </a:r>
                      <a:endPar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algn="l">
                        <a:lnSpc>
                          <a:spcPts val="3499"/>
                        </a:lnSpc>
                        <a:defRPr/>
                      </a:pPr>
                      <a:r>
                        <a:rPr lang="fr-MA" sz="1600" dirty="0"/>
                        <a:t>Problématique </a:t>
                      </a:r>
                      <a:endParaRPr lang="en-US" sz="16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marL="0" algn="ctr" defTabSz="914400" rtl="0" eaLnBrk="1" latinLnBrk="0" hangingPunct="1">
                        <a:lnSpc>
                          <a:spcPts val="3919"/>
                        </a:lnSpc>
                        <a:defRPr/>
                      </a:pPr>
                      <a:r>
                        <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a typeface="DM Serif Display"/>
                          <a:cs typeface="DM Serif Display"/>
                          <a:sym typeface="DM Serif Display"/>
                        </a:rPr>
                        <a:t>08</a:t>
                      </a:r>
                      <a:endPar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marL="0" marR="0" lvl="0" indent="0" algn="l" defTabSz="914400" rtl="0" eaLnBrk="1" fontAlgn="auto" latinLnBrk="0" hangingPunct="1">
                        <a:lnSpc>
                          <a:spcPts val="3499"/>
                        </a:lnSpc>
                        <a:spcBef>
                          <a:spcPts val="0"/>
                        </a:spcBef>
                        <a:spcAft>
                          <a:spcPts val="0"/>
                        </a:spcAft>
                        <a:buClrTx/>
                        <a:buSzTx/>
                        <a:buFontTx/>
                        <a:buNone/>
                        <a:tabLst/>
                        <a:defRPr/>
                      </a:pPr>
                      <a:r>
                        <a:rPr lang="fr-MA" sz="1600" kern="1200" dirty="0">
                          <a:solidFill>
                            <a:schemeClr val="tx1"/>
                          </a:solidFill>
                          <a:latin typeface="+mn-lt"/>
                          <a:ea typeface="+mn-ea"/>
                          <a:cs typeface="+mn-cs"/>
                        </a:rPr>
                        <a:t>Démonstration</a:t>
                      </a:r>
                      <a:endParaRPr lang="en-US" sz="1600" kern="1200" dirty="0">
                        <a:solidFill>
                          <a:schemeClr val="tx1"/>
                        </a:solidFill>
                        <a:latin typeface="+mn-lt"/>
                        <a:ea typeface="+mn-ea"/>
                        <a:cs typeface="+mn-cs"/>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2"/>
                  </a:ext>
                </a:extLst>
              </a:tr>
              <a:tr h="721366">
                <a:tc>
                  <a:txBody>
                    <a:bodyPr/>
                    <a:lstStyle/>
                    <a:p>
                      <a:pPr algn="ctr">
                        <a:lnSpc>
                          <a:spcPts val="3919"/>
                        </a:lnSpc>
                        <a:defRPr/>
                      </a:pPr>
                      <a:r>
                        <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a typeface="DM Serif Display"/>
                          <a:cs typeface="DM Serif Display"/>
                          <a:sym typeface="DM Serif Display"/>
                        </a:rPr>
                        <a:t>04</a:t>
                      </a:r>
                      <a:endPar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algn="l">
                        <a:lnSpc>
                          <a:spcPts val="3499"/>
                        </a:lnSpc>
                        <a:defRPr/>
                      </a:pPr>
                      <a:r>
                        <a:rPr lang="fr-MA" sz="1600" dirty="0"/>
                        <a:t>Solution Proposée </a:t>
                      </a:r>
                      <a:endParaRPr lang="en-US" sz="1600" dirty="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marL="0" algn="ctr" defTabSz="914400" rtl="0" eaLnBrk="1" latinLnBrk="0" hangingPunct="1">
                        <a:lnSpc>
                          <a:spcPts val="3919"/>
                        </a:lnSpc>
                        <a:defRPr/>
                      </a:pPr>
                      <a:r>
                        <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a typeface="DM Serif Display"/>
                          <a:cs typeface="DM Serif Display"/>
                          <a:sym typeface="DM Serif Display"/>
                        </a:rPr>
                        <a:t>09</a:t>
                      </a:r>
                      <a:endParaRPr lang="en-US" sz="1600" kern="1200" dirty="0">
                        <a:ln>
                          <a:solidFill>
                            <a:schemeClr val="tx1">
                              <a:lumMod val="50000"/>
                              <a:lumOff val="50000"/>
                            </a:schemeClr>
                          </a:solidFill>
                        </a:ln>
                        <a:solidFill>
                          <a:schemeClr val="tx1"/>
                        </a:solidFill>
                        <a:effectLst>
                          <a:glow rad="228600">
                            <a:schemeClr val="accent6">
                              <a:satMod val="175000"/>
                              <a:alpha val="40000"/>
                            </a:schemeClr>
                          </a:glow>
                        </a:effectLst>
                        <a:latin typeface="DM Serif Display"/>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tc>
                  <a:txBody>
                    <a:bodyPr/>
                    <a:lstStyle/>
                    <a:p>
                      <a:pPr marL="0" marR="0" lvl="0" indent="0" algn="l" defTabSz="914400" rtl="0" eaLnBrk="1" fontAlgn="auto" latinLnBrk="0" hangingPunct="1">
                        <a:lnSpc>
                          <a:spcPts val="3499"/>
                        </a:lnSpc>
                        <a:spcBef>
                          <a:spcPts val="0"/>
                        </a:spcBef>
                        <a:spcAft>
                          <a:spcPts val="0"/>
                        </a:spcAft>
                        <a:buClrTx/>
                        <a:buSzTx/>
                        <a:buFontTx/>
                        <a:buNone/>
                        <a:tabLst/>
                        <a:defRPr/>
                      </a:pPr>
                      <a:r>
                        <a:rPr lang="fr-MA" sz="1600" kern="1200" dirty="0">
                          <a:solidFill>
                            <a:schemeClr val="tx1"/>
                          </a:solidFill>
                          <a:latin typeface="+mn-lt"/>
                          <a:ea typeface="+mn-ea"/>
                          <a:cs typeface="+mn-cs"/>
                        </a:rPr>
                        <a:t>Conclusion</a:t>
                      </a: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82910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A1839-07F3-2A29-01FA-544A3413F209}"/>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147CFAF9-6881-26AE-C9CE-93051CC5C646}"/>
              </a:ext>
            </a:extLst>
          </p:cNvPr>
          <p:cNvSpPr txBox="1"/>
          <p:nvPr/>
        </p:nvSpPr>
        <p:spPr>
          <a:xfrm>
            <a:off x="1080105" y="2630388"/>
            <a:ext cx="10728087" cy="2036889"/>
          </a:xfrm>
          <a:prstGeom prst="rect">
            <a:avLst/>
          </a:prstGeom>
        </p:spPr>
        <p:txBody>
          <a:bodyPr vert="horz" lIns="91440" tIns="45720" rIns="91440" bIns="45720" rtlCol="0">
            <a:noAutofit/>
          </a:bodyPr>
          <a:lstStyle/>
          <a:p>
            <a:pPr>
              <a:lnSpc>
                <a:spcPct val="140000"/>
              </a:lnSpc>
              <a:spcBef>
                <a:spcPts val="1000"/>
              </a:spcBef>
            </a:pPr>
            <a:r>
              <a:rPr lang="fr-FR" sz="1600" spc="50" dirty="0">
                <a:solidFill>
                  <a:schemeClr val="tx1">
                    <a:lumMod val="75000"/>
                    <a:lumOff val="25000"/>
                  </a:schemeClr>
                </a:solidFill>
              </a:rPr>
              <a:t>Aujourd’hui, la messagerie instantanée est devenue un moyen incontournable de communication, aussi bien dans la vie personnelle que professionnelle.</a:t>
            </a:r>
            <a:br>
              <a:rPr lang="fr-FR" sz="1600" spc="50" dirty="0">
                <a:solidFill>
                  <a:schemeClr val="tx1">
                    <a:lumMod val="75000"/>
                    <a:lumOff val="25000"/>
                  </a:schemeClr>
                </a:solidFill>
              </a:rPr>
            </a:br>
            <a:r>
              <a:rPr lang="fr-FR" sz="1600" spc="50" dirty="0">
                <a:solidFill>
                  <a:schemeClr val="tx1">
                    <a:lumMod val="75000"/>
                    <a:lumOff val="25000"/>
                  </a:schemeClr>
                </a:solidFill>
              </a:rPr>
              <a:t>Mais les applications existantes posent souvent des problèmes de confidentialité et de contrôle.</a:t>
            </a:r>
            <a:br>
              <a:rPr lang="fr-FR" sz="1600" spc="50" dirty="0">
                <a:solidFill>
                  <a:schemeClr val="tx1">
                    <a:lumMod val="75000"/>
                    <a:lumOff val="25000"/>
                  </a:schemeClr>
                </a:solidFill>
              </a:rPr>
            </a:br>
            <a:r>
              <a:rPr lang="fr-FR" sz="1600" spc="50" dirty="0">
                <a:solidFill>
                  <a:schemeClr val="tx1">
                    <a:lumMod val="75000"/>
                    <a:lumOff val="25000"/>
                  </a:schemeClr>
                </a:solidFill>
              </a:rPr>
              <a:t>Ce projet vise à développer une application web de messagerie en temps réel, avec des échanges sécurisés, limités aux utilisateurs connectés par une relation validée.</a:t>
            </a:r>
          </a:p>
        </p:txBody>
      </p:sp>
      <p:sp>
        <p:nvSpPr>
          <p:cNvPr id="4" name="Slide Number Placeholder 5">
            <a:extLst>
              <a:ext uri="{FF2B5EF4-FFF2-40B4-BE49-F238E27FC236}">
                <a16:creationId xmlns:a16="http://schemas.microsoft.com/office/drawing/2014/main" id="{68F6E860-EED2-5F66-D958-BB5375F661A1}"/>
              </a:ext>
            </a:extLst>
          </p:cNvPr>
          <p:cNvSpPr>
            <a:spLocks noGrp="1"/>
          </p:cNvSpPr>
          <p:nvPr>
            <p:ph type="sldNum" sz="quarter" idx="12"/>
          </p:nvPr>
        </p:nvSpPr>
        <p:spPr>
          <a:xfrm>
            <a:off x="9579428" y="6356350"/>
            <a:ext cx="1774371" cy="365125"/>
          </a:xfrm>
        </p:spPr>
        <p:txBody>
          <a:bodyPr/>
          <a:lstStyle/>
          <a:p>
            <a:pPr rtl="0">
              <a:spcAft>
                <a:spcPts val="600"/>
              </a:spcAft>
            </a:pPr>
            <a:fld id="{B5CEABB6-07DC-46E8-9B57-56EC44A396E5}" type="slidenum">
              <a:rPr lang="fr-FR" noProof="0" smtClean="0"/>
              <a:pPr rtl="0">
                <a:spcAft>
                  <a:spcPts val="600"/>
                </a:spcAft>
              </a:pPr>
              <a:t>3</a:t>
            </a:fld>
            <a:endParaRPr lang="fr-FR" noProof="0" dirty="0"/>
          </a:p>
        </p:txBody>
      </p:sp>
      <p:sp>
        <p:nvSpPr>
          <p:cNvPr id="6" name="ZoneTexte 5">
            <a:extLst>
              <a:ext uri="{FF2B5EF4-FFF2-40B4-BE49-F238E27FC236}">
                <a16:creationId xmlns:a16="http://schemas.microsoft.com/office/drawing/2014/main" id="{074F515A-1708-E635-0921-87E3F7BDAE09}"/>
              </a:ext>
            </a:extLst>
          </p:cNvPr>
          <p:cNvSpPr txBox="1"/>
          <p:nvPr/>
        </p:nvSpPr>
        <p:spPr>
          <a:xfrm>
            <a:off x="1878955" y="1168968"/>
            <a:ext cx="6098458" cy="646331"/>
          </a:xfrm>
          <a:prstGeom prst="rect">
            <a:avLst/>
          </a:prstGeom>
          <a:noFill/>
        </p:spPr>
        <p:txBody>
          <a:bodyPr wrap="square">
            <a:spAutoFit/>
          </a:bodyPr>
          <a:lstStyle/>
          <a:p>
            <a:pPr algn="ctr">
              <a:lnSpc>
                <a:spcPct val="90000"/>
              </a:lnSpc>
              <a:spcBef>
                <a:spcPct val="0"/>
              </a:spcBef>
              <a:spcAft>
                <a:spcPts val="600"/>
              </a:spcAft>
            </a:pPr>
            <a:r>
              <a:rPr lang="fr-FR" sz="4000" b="1" dirty="0">
                <a:solidFill>
                  <a:srgbClr val="343232"/>
                </a:solidFill>
                <a:latin typeface="Tenorite (Corps)"/>
              </a:rPr>
              <a:t>Introduction</a:t>
            </a:r>
          </a:p>
        </p:txBody>
      </p:sp>
      <p:sp>
        <p:nvSpPr>
          <p:cNvPr id="7" name="Freeform 3">
            <a:extLst>
              <a:ext uri="{FF2B5EF4-FFF2-40B4-BE49-F238E27FC236}">
                <a16:creationId xmlns:a16="http://schemas.microsoft.com/office/drawing/2014/main" id="{FFEAF6F0-7FD1-61E9-56C4-A3A187BA5BDB}"/>
              </a:ext>
            </a:extLst>
          </p:cNvPr>
          <p:cNvSpPr/>
          <p:nvPr/>
        </p:nvSpPr>
        <p:spPr>
          <a:xfrm rot="1425647">
            <a:off x="-1486264" y="4839833"/>
            <a:ext cx="7327497" cy="3290116"/>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MA"/>
          </a:p>
        </p:txBody>
      </p:sp>
    </p:spTree>
    <p:extLst>
      <p:ext uri="{BB962C8B-B14F-4D97-AF65-F5344CB8AC3E}">
        <p14:creationId xmlns:p14="http://schemas.microsoft.com/office/powerpoint/2010/main" val="3620302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03FFC-7EC6-DCF4-9D85-8E4A335D49C2}"/>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7CB2F8B1-CBB1-E8CB-9DE4-8E7AF328E680}"/>
              </a:ext>
            </a:extLst>
          </p:cNvPr>
          <p:cNvSpPr txBox="1"/>
          <p:nvPr/>
        </p:nvSpPr>
        <p:spPr>
          <a:xfrm>
            <a:off x="3750792" y="1256435"/>
            <a:ext cx="5658465" cy="1016454"/>
          </a:xfrm>
          <a:prstGeom prst="rect">
            <a:avLst/>
          </a:prstGeom>
        </p:spPr>
        <p:txBody>
          <a:bodyPr vert="horz" lIns="91440" tIns="45720" rIns="91440" bIns="45720" rtlCol="0" anchor="b">
            <a:normAutofit/>
          </a:bodyPr>
          <a:lstStyle/>
          <a:p>
            <a:pPr>
              <a:lnSpc>
                <a:spcPct val="90000"/>
              </a:lnSpc>
              <a:spcBef>
                <a:spcPct val="0"/>
              </a:spcBef>
              <a:spcAft>
                <a:spcPts val="600"/>
              </a:spcAft>
              <a:defRPr/>
            </a:pPr>
            <a:r>
              <a:rPr lang="fr-FR" sz="4000" b="1" dirty="0">
                <a:solidFill>
                  <a:srgbClr val="343232"/>
                </a:solidFill>
                <a:latin typeface="Tenorite (Corps)"/>
              </a:rPr>
              <a:t>Contexte du Projet</a:t>
            </a:r>
          </a:p>
        </p:txBody>
      </p:sp>
      <p:sp>
        <p:nvSpPr>
          <p:cNvPr id="4" name="Rectangle 1">
            <a:extLst>
              <a:ext uri="{FF2B5EF4-FFF2-40B4-BE49-F238E27FC236}">
                <a16:creationId xmlns:a16="http://schemas.microsoft.com/office/drawing/2014/main" id="{1E23AB1A-AEE1-B036-ED70-75B210703AD6}"/>
              </a:ext>
            </a:extLst>
          </p:cNvPr>
          <p:cNvSpPr>
            <a:spLocks noChangeArrowheads="1"/>
          </p:cNvSpPr>
          <p:nvPr/>
        </p:nvSpPr>
        <p:spPr bwMode="auto">
          <a:xfrm>
            <a:off x="1371601" y="2720830"/>
            <a:ext cx="10416848" cy="218549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R="0" algn="just" fontAlgn="base">
              <a:lnSpc>
                <a:spcPct val="140000"/>
              </a:lnSpc>
              <a:spcBef>
                <a:spcPts val="1000"/>
              </a:spcBef>
              <a:spcAft>
                <a:spcPct val="0"/>
              </a:spcAft>
              <a:buClrTx/>
              <a:buSzTx/>
              <a:tabLst/>
            </a:pPr>
            <a:r>
              <a:rPr lang="fr-FR" altLang="fr-FR" sz="1600" spc="50" dirty="0">
                <a:solidFill>
                  <a:schemeClr val="tx1">
                    <a:lumMod val="75000"/>
                    <a:lumOff val="25000"/>
                  </a:schemeClr>
                </a:solidFill>
              </a:rPr>
              <a:t>Les outils de messagerie instantanée ont transformé nos modes de communication. Les utilisateurs recherchent désormais des solutions à la fois rapides, simples et sécurisées. Or, la majorité des plateformes favorisent des échanges ouverts, avec peu de contrôle sur les interactions et la confidentialité. </a:t>
            </a:r>
          </a:p>
          <a:p>
            <a:pPr marR="0" algn="just" fontAlgn="base">
              <a:lnSpc>
                <a:spcPct val="140000"/>
              </a:lnSpc>
              <a:spcBef>
                <a:spcPts val="1000"/>
              </a:spcBef>
              <a:spcAft>
                <a:spcPct val="0"/>
              </a:spcAft>
              <a:buClrTx/>
              <a:buSzTx/>
              <a:tabLst/>
            </a:pPr>
            <a:r>
              <a:rPr lang="fr-FR" altLang="fr-FR" sz="1600" spc="50" dirty="0">
                <a:solidFill>
                  <a:schemeClr val="tx1">
                    <a:lumMod val="75000"/>
                    <a:lumOff val="25000"/>
                  </a:schemeClr>
                </a:solidFill>
              </a:rPr>
              <a:t>Ce projet vise à développer une application web de messagerie en temps réel, pensée comme un réseau social privé et sécurisé, où chaque connexion est validée, chaque publication protégée, et chaque interaction maîtrisée.</a:t>
            </a:r>
          </a:p>
        </p:txBody>
      </p:sp>
      <p:sp>
        <p:nvSpPr>
          <p:cNvPr id="13" name="Slide Number Placeholder 5">
            <a:extLst>
              <a:ext uri="{FF2B5EF4-FFF2-40B4-BE49-F238E27FC236}">
                <a16:creationId xmlns:a16="http://schemas.microsoft.com/office/drawing/2014/main" id="{EAA268CF-D74C-54E5-48E3-BA175DF9E14C}"/>
              </a:ext>
            </a:extLst>
          </p:cNvPr>
          <p:cNvSpPr>
            <a:spLocks noGrp="1"/>
          </p:cNvSpPr>
          <p:nvPr>
            <p:ph type="sldNum" sz="quarter" idx="12"/>
          </p:nvPr>
        </p:nvSpPr>
        <p:spPr/>
        <p:txBody>
          <a:bodyPr vert="horz" lIns="91440" tIns="45720" rIns="91440" bIns="45720" rtlCol="0" anchor="ctr">
            <a:normAutofit/>
          </a:bodyPr>
          <a:lstStyle/>
          <a:p>
            <a:pPr>
              <a:spcAft>
                <a:spcPts val="600"/>
              </a:spcAft>
            </a:pPr>
            <a:fld id="{B5CEABB6-07DC-46E8-9B57-56EC44A396E5}" type="slidenum">
              <a:rPr lang="fr-FR" smtClean="0"/>
              <a:pPr>
                <a:spcAft>
                  <a:spcPts val="600"/>
                </a:spcAft>
              </a:pPr>
              <a:t>4</a:t>
            </a:fld>
            <a:endParaRPr lang="fr-FR" dirty="0"/>
          </a:p>
        </p:txBody>
      </p:sp>
      <p:sp>
        <p:nvSpPr>
          <p:cNvPr id="5" name="Freeform 3">
            <a:extLst>
              <a:ext uri="{FF2B5EF4-FFF2-40B4-BE49-F238E27FC236}">
                <a16:creationId xmlns:a16="http://schemas.microsoft.com/office/drawing/2014/main" id="{4931C7F8-851D-FC74-DDA6-7DF40DBE8CE5}"/>
              </a:ext>
            </a:extLst>
          </p:cNvPr>
          <p:cNvSpPr/>
          <p:nvPr/>
        </p:nvSpPr>
        <p:spPr>
          <a:xfrm rot="3352799">
            <a:off x="9791595" y="86052"/>
            <a:ext cx="4372636" cy="2340766"/>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MA"/>
          </a:p>
        </p:txBody>
      </p:sp>
      <p:sp>
        <p:nvSpPr>
          <p:cNvPr id="6" name="Freeform 3">
            <a:extLst>
              <a:ext uri="{FF2B5EF4-FFF2-40B4-BE49-F238E27FC236}">
                <a16:creationId xmlns:a16="http://schemas.microsoft.com/office/drawing/2014/main" id="{D9BACCA9-4EA8-C7E7-FF36-6675879E046E}"/>
              </a:ext>
            </a:extLst>
          </p:cNvPr>
          <p:cNvSpPr/>
          <p:nvPr/>
        </p:nvSpPr>
        <p:spPr>
          <a:xfrm rot="4018536">
            <a:off x="-2563885" y="4069125"/>
            <a:ext cx="4258244" cy="2721440"/>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MA"/>
          </a:p>
        </p:txBody>
      </p:sp>
    </p:spTree>
    <p:extLst>
      <p:ext uri="{BB962C8B-B14F-4D97-AF65-F5344CB8AC3E}">
        <p14:creationId xmlns:p14="http://schemas.microsoft.com/office/powerpoint/2010/main" val="3493337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AA4BC-26A7-3C3C-750E-310C301A60A7}"/>
            </a:ext>
          </a:extLst>
        </p:cNvPr>
        <p:cNvGrpSpPr/>
        <p:nvPr/>
      </p:nvGrpSpPr>
      <p:grpSpPr>
        <a:xfrm>
          <a:off x="0" y="0"/>
          <a:ext cx="0" cy="0"/>
          <a:chOff x="0" y="0"/>
          <a:chExt cx="0" cy="0"/>
        </a:xfrm>
      </p:grpSpPr>
      <p:sp>
        <p:nvSpPr>
          <p:cNvPr id="33" name="ZoneTexte 32">
            <a:extLst>
              <a:ext uri="{FF2B5EF4-FFF2-40B4-BE49-F238E27FC236}">
                <a16:creationId xmlns:a16="http://schemas.microsoft.com/office/drawing/2014/main" id="{C9F77270-D933-6461-5656-57B682D915BF}"/>
              </a:ext>
            </a:extLst>
          </p:cNvPr>
          <p:cNvSpPr txBox="1"/>
          <p:nvPr/>
        </p:nvSpPr>
        <p:spPr>
          <a:xfrm>
            <a:off x="867606" y="3298306"/>
            <a:ext cx="10732179" cy="2308324"/>
          </a:xfrm>
          <a:prstGeom prst="rect">
            <a:avLst/>
          </a:prstGeom>
          <a:noFill/>
        </p:spPr>
        <p:txBody>
          <a:bodyPr wrap="square">
            <a:spAutoFit/>
          </a:bodyPr>
          <a:lstStyle/>
          <a:p>
            <a:pPr algn="just"/>
            <a:r>
              <a:rPr lang="fr-FR" spc="50" dirty="0">
                <a:solidFill>
                  <a:schemeClr val="tx1">
                    <a:lumMod val="75000"/>
                    <a:lumOff val="25000"/>
                  </a:schemeClr>
                </a:solidFill>
              </a:rPr>
              <a:t>Aujourd’hui, beaucoup de gens veulent discuter en ligne tout en gardant le contrôle sur leur vie privée. Pourtant, la plupart des applications permettent à n’importe qui de nous contacter, et nos publications sont souvent visibles par tout le monde. En plus, nos données personnelles sont parfois utilisées sans notre accord.</a:t>
            </a:r>
          </a:p>
          <a:p>
            <a:pPr algn="just"/>
            <a:br>
              <a:rPr lang="fr-FR" spc="50" dirty="0">
                <a:solidFill>
                  <a:schemeClr val="tx1">
                    <a:lumMod val="75000"/>
                    <a:lumOff val="25000"/>
                  </a:schemeClr>
                </a:solidFill>
              </a:rPr>
            </a:br>
            <a:r>
              <a:rPr lang="fr-FR" spc="50" dirty="0">
                <a:solidFill>
                  <a:schemeClr val="tx1">
                    <a:lumMod val="75000"/>
                    <a:lumOff val="25000"/>
                  </a:schemeClr>
                </a:solidFill>
              </a:rPr>
              <a:t>Ce projet part donc d’une question simple : comment créer une application de messagerie où seuls les contacts approuvés peuvent échanger, où les publications sont privées, et où l’utilisateur garde le contrôle total de ses interactions ?</a:t>
            </a:r>
            <a:endParaRPr lang="fr-MA" spc="50" dirty="0">
              <a:solidFill>
                <a:schemeClr val="tx1">
                  <a:lumMod val="75000"/>
                  <a:lumOff val="25000"/>
                </a:schemeClr>
              </a:solidFill>
            </a:endParaRPr>
          </a:p>
        </p:txBody>
      </p:sp>
      <p:sp>
        <p:nvSpPr>
          <p:cNvPr id="35" name="ZoneTexte 34">
            <a:extLst>
              <a:ext uri="{FF2B5EF4-FFF2-40B4-BE49-F238E27FC236}">
                <a16:creationId xmlns:a16="http://schemas.microsoft.com/office/drawing/2014/main" id="{83EFDA25-BEEE-8C24-59E6-48F822C3C331}"/>
              </a:ext>
            </a:extLst>
          </p:cNvPr>
          <p:cNvSpPr txBox="1"/>
          <p:nvPr/>
        </p:nvSpPr>
        <p:spPr>
          <a:xfrm>
            <a:off x="3918996" y="2209380"/>
            <a:ext cx="6092686" cy="707886"/>
          </a:xfrm>
          <a:prstGeom prst="rect">
            <a:avLst/>
          </a:prstGeom>
          <a:noFill/>
        </p:spPr>
        <p:txBody>
          <a:bodyPr wrap="square">
            <a:spAutoFit/>
          </a:bodyPr>
          <a:lstStyle/>
          <a:p>
            <a:r>
              <a:rPr lang="fr-MA" sz="4000" b="1" dirty="0">
                <a:solidFill>
                  <a:srgbClr val="343232"/>
                </a:solidFill>
                <a:latin typeface="Tenorite (Corps)"/>
              </a:rPr>
              <a:t>Problématique</a:t>
            </a:r>
          </a:p>
        </p:txBody>
      </p:sp>
      <p:sp>
        <p:nvSpPr>
          <p:cNvPr id="36" name="Freeform 3">
            <a:extLst>
              <a:ext uri="{FF2B5EF4-FFF2-40B4-BE49-F238E27FC236}">
                <a16:creationId xmlns:a16="http://schemas.microsoft.com/office/drawing/2014/main" id="{80F7402B-0638-6517-42C1-A51A87447C95}"/>
              </a:ext>
            </a:extLst>
          </p:cNvPr>
          <p:cNvSpPr/>
          <p:nvPr/>
        </p:nvSpPr>
        <p:spPr>
          <a:xfrm rot="2288834">
            <a:off x="7672109" y="-1091520"/>
            <a:ext cx="6465085" cy="3398475"/>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MA"/>
          </a:p>
        </p:txBody>
      </p:sp>
      <p:sp>
        <p:nvSpPr>
          <p:cNvPr id="41" name="Slide Number Placeholder 5">
            <a:extLst>
              <a:ext uri="{FF2B5EF4-FFF2-40B4-BE49-F238E27FC236}">
                <a16:creationId xmlns:a16="http://schemas.microsoft.com/office/drawing/2014/main" id="{D528B72C-DFF9-2F60-A3BE-DD5CE4504574}"/>
              </a:ext>
            </a:extLst>
          </p:cNvPr>
          <p:cNvSpPr txBox="1">
            <a:spLocks/>
          </p:cNvSpPr>
          <p:nvPr/>
        </p:nvSpPr>
        <p:spPr>
          <a:xfrm>
            <a:off x="9825415" y="6254092"/>
            <a:ext cx="1774371" cy="365125"/>
          </a:xfrm>
          <a:prstGeom prst="rect">
            <a:avLst/>
          </a:prstGeom>
        </p:spPr>
        <p:txBody>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5</a:t>
            </a:fld>
            <a:endParaRPr lang="fr-FR" sz="900" dirty="0">
              <a:solidFill>
                <a:schemeClr val="tx1">
                  <a:tint val="75000"/>
                </a:schemeClr>
              </a:solidFill>
            </a:endParaRPr>
          </a:p>
        </p:txBody>
      </p:sp>
    </p:spTree>
    <p:extLst>
      <p:ext uri="{BB962C8B-B14F-4D97-AF65-F5344CB8AC3E}">
        <p14:creationId xmlns:p14="http://schemas.microsoft.com/office/powerpoint/2010/main" val="150098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3002E-611C-A3DD-D8B7-F8FDB6CADC80}"/>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D491D607-D485-5665-97FB-1ECD3E9E1697}"/>
              </a:ext>
            </a:extLst>
          </p:cNvPr>
          <p:cNvSpPr>
            <a:spLocks noChangeArrowheads="1"/>
          </p:cNvSpPr>
          <p:nvPr/>
        </p:nvSpPr>
        <p:spPr bwMode="auto">
          <a:xfrm>
            <a:off x="3324824" y="2379026"/>
            <a:ext cx="8249478" cy="300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Font typeface="Arial" panose="020B0604020202020204" pitchFamily="34" charset="0"/>
              <a:buChar char="•"/>
            </a:pPr>
            <a:r>
              <a:rPr lang="fr-FR" sz="1600" spc="50" dirty="0">
                <a:solidFill>
                  <a:schemeClr val="tx1">
                    <a:lumMod val="75000"/>
                    <a:lumOff val="25000"/>
                  </a:schemeClr>
                </a:solidFill>
              </a:rPr>
              <a:t>Développement d’une application web de messagerie en temps réel</a:t>
            </a:r>
          </a:p>
          <a:p>
            <a:pPr algn="just">
              <a:lnSpc>
                <a:spcPct val="150000"/>
              </a:lnSpc>
              <a:buFont typeface="Arial" panose="020B0604020202020204" pitchFamily="34" charset="0"/>
              <a:buChar char="•"/>
            </a:pPr>
            <a:r>
              <a:rPr lang="fr-FR" sz="1600" spc="50" dirty="0">
                <a:solidFill>
                  <a:schemeClr val="tx1">
                    <a:lumMod val="75000"/>
                    <a:lumOff val="25000"/>
                  </a:schemeClr>
                </a:solidFill>
              </a:rPr>
              <a:t>Application centrée sur la confidentialité et les connexions validées</a:t>
            </a:r>
          </a:p>
          <a:p>
            <a:pPr algn="just">
              <a:lnSpc>
                <a:spcPct val="150000"/>
              </a:lnSpc>
              <a:buFont typeface="Arial" panose="020B0604020202020204" pitchFamily="34" charset="0"/>
              <a:buChar char="•"/>
            </a:pPr>
            <a:r>
              <a:rPr lang="fr-FR" sz="1600" spc="50" dirty="0">
                <a:solidFill>
                  <a:schemeClr val="tx1">
                    <a:lumMod val="75000"/>
                    <a:lumOff val="25000"/>
                  </a:schemeClr>
                </a:solidFill>
              </a:rPr>
              <a:t>Création de compte, envoi d’invitations, messagerie uniquement entre contacts approuvés</a:t>
            </a:r>
          </a:p>
          <a:p>
            <a:pPr algn="just">
              <a:lnSpc>
                <a:spcPct val="150000"/>
              </a:lnSpc>
              <a:buFont typeface="Arial" panose="020B0604020202020204" pitchFamily="34" charset="0"/>
              <a:buChar char="•"/>
            </a:pPr>
            <a:r>
              <a:rPr lang="fr-FR" sz="1600" spc="50" dirty="0">
                <a:solidFill>
                  <a:schemeClr val="tx1">
                    <a:lumMod val="75000"/>
                    <a:lumOff val="25000"/>
                  </a:schemeClr>
                </a:solidFill>
              </a:rPr>
              <a:t>Fonctions : messages privés, publications visibles uniquement par les contacts, groupes de discussion</a:t>
            </a:r>
          </a:p>
          <a:p>
            <a:pPr algn="just">
              <a:lnSpc>
                <a:spcPct val="150000"/>
              </a:lnSpc>
              <a:buFont typeface="Arial" panose="020B0604020202020204" pitchFamily="34" charset="0"/>
              <a:buChar char="•"/>
            </a:pPr>
            <a:r>
              <a:rPr lang="fr-FR" sz="1600" spc="50" dirty="0">
                <a:solidFill>
                  <a:schemeClr val="tx1">
                    <a:lumMod val="75000"/>
                    <a:lumOff val="25000"/>
                  </a:schemeClr>
                </a:solidFill>
              </a:rPr>
              <a:t>Technologies utilisées : </a:t>
            </a:r>
            <a:r>
              <a:rPr lang="fr-FR" sz="1600" spc="50" dirty="0" err="1">
                <a:solidFill>
                  <a:schemeClr val="tx1">
                    <a:lumMod val="75000"/>
                    <a:lumOff val="25000"/>
                  </a:schemeClr>
                </a:solidFill>
              </a:rPr>
              <a:t>Laravel</a:t>
            </a:r>
            <a:r>
              <a:rPr lang="fr-FR" sz="1600" spc="50" dirty="0">
                <a:solidFill>
                  <a:schemeClr val="tx1">
                    <a:lumMod val="75000"/>
                    <a:lumOff val="25000"/>
                  </a:schemeClr>
                </a:solidFill>
              </a:rPr>
              <a:t>, MySQL, Pusher pour des échanges rapides et sécurisés</a:t>
            </a:r>
          </a:p>
        </p:txBody>
      </p:sp>
      <p:sp>
        <p:nvSpPr>
          <p:cNvPr id="7" name="ZoneTexte 6">
            <a:extLst>
              <a:ext uri="{FF2B5EF4-FFF2-40B4-BE49-F238E27FC236}">
                <a16:creationId xmlns:a16="http://schemas.microsoft.com/office/drawing/2014/main" id="{4EA5163A-8AA5-E4BE-9551-F050A0CE72EE}"/>
              </a:ext>
            </a:extLst>
          </p:cNvPr>
          <p:cNvSpPr txBox="1"/>
          <p:nvPr/>
        </p:nvSpPr>
        <p:spPr>
          <a:xfrm>
            <a:off x="3324824" y="1364734"/>
            <a:ext cx="6096000" cy="707886"/>
          </a:xfrm>
          <a:prstGeom prst="rect">
            <a:avLst/>
          </a:prstGeom>
          <a:noFill/>
        </p:spPr>
        <p:txBody>
          <a:bodyPr wrap="square">
            <a:spAutoFit/>
          </a:bodyPr>
          <a:lstStyle/>
          <a:p>
            <a:r>
              <a:rPr lang="fr-MA" sz="4000" b="1" dirty="0">
                <a:solidFill>
                  <a:srgbClr val="343232"/>
                </a:solidFill>
                <a:latin typeface="Tenorite (Corps)"/>
              </a:rPr>
              <a:t>Solution proposée</a:t>
            </a:r>
          </a:p>
        </p:txBody>
      </p:sp>
      <p:sp>
        <p:nvSpPr>
          <p:cNvPr id="15" name="Slide Number Placeholder 5">
            <a:extLst>
              <a:ext uri="{FF2B5EF4-FFF2-40B4-BE49-F238E27FC236}">
                <a16:creationId xmlns:a16="http://schemas.microsoft.com/office/drawing/2014/main" id="{91D4A21A-D14C-E29F-8EB2-321450A1A25C}"/>
              </a:ext>
            </a:extLst>
          </p:cNvPr>
          <p:cNvSpPr txBox="1">
            <a:spLocks/>
          </p:cNvSpPr>
          <p:nvPr/>
        </p:nvSpPr>
        <p:spPr>
          <a:xfrm>
            <a:off x="9825415" y="6254092"/>
            <a:ext cx="1774371" cy="365125"/>
          </a:xfrm>
          <a:prstGeom prst="rect">
            <a:avLst/>
          </a:prstGeom>
        </p:spPr>
        <p:txBody>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6</a:t>
            </a:fld>
            <a:endParaRPr lang="fr-FR" sz="900" dirty="0">
              <a:solidFill>
                <a:schemeClr val="tx1">
                  <a:tint val="75000"/>
                </a:schemeClr>
              </a:solidFill>
            </a:endParaRPr>
          </a:p>
        </p:txBody>
      </p:sp>
    </p:spTree>
    <p:extLst>
      <p:ext uri="{BB962C8B-B14F-4D97-AF65-F5344CB8AC3E}">
        <p14:creationId xmlns:p14="http://schemas.microsoft.com/office/powerpoint/2010/main" val="4289171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FEA00-F33F-E686-9AF9-964207247D43}"/>
            </a:ext>
          </a:extLst>
        </p:cNvPr>
        <p:cNvGrpSpPr/>
        <p:nvPr/>
      </p:nvGrpSpPr>
      <p:grpSpPr>
        <a:xfrm>
          <a:off x="0" y="0"/>
          <a:ext cx="0" cy="0"/>
          <a:chOff x="0" y="0"/>
          <a:chExt cx="0" cy="0"/>
        </a:xfrm>
      </p:grpSpPr>
      <p:sp>
        <p:nvSpPr>
          <p:cNvPr id="30" name="ZoneTexte 29">
            <a:extLst>
              <a:ext uri="{FF2B5EF4-FFF2-40B4-BE49-F238E27FC236}">
                <a16:creationId xmlns:a16="http://schemas.microsoft.com/office/drawing/2014/main" id="{CFD15D91-44B4-F632-183A-5B837282B4A7}"/>
              </a:ext>
            </a:extLst>
          </p:cNvPr>
          <p:cNvSpPr txBox="1"/>
          <p:nvPr/>
        </p:nvSpPr>
        <p:spPr>
          <a:xfrm>
            <a:off x="1087967" y="1255617"/>
            <a:ext cx="6104466" cy="555730"/>
          </a:xfrm>
          <a:prstGeom prst="rect">
            <a:avLst/>
          </a:prstGeom>
          <a:noFill/>
        </p:spPr>
        <p:txBody>
          <a:bodyPr wrap="square">
            <a:spAutoFit/>
          </a:bodyPr>
          <a:lstStyle/>
          <a:p>
            <a:pPr marL="0" marR="0" lvl="0" indent="0" algn="l" defTabSz="914400" rtl="0" eaLnBrk="1" fontAlgn="auto" latinLnBrk="0" hangingPunct="1">
              <a:lnSpc>
                <a:spcPts val="3499"/>
              </a:lnSpc>
              <a:spcBef>
                <a:spcPts val="0"/>
              </a:spcBef>
              <a:spcAft>
                <a:spcPts val="0"/>
              </a:spcAft>
              <a:buClrTx/>
              <a:buSzTx/>
              <a:buFontTx/>
              <a:buNone/>
              <a:tabLst/>
              <a:defRPr/>
            </a:pPr>
            <a:r>
              <a:rPr lang="en-US" sz="4000" b="1" dirty="0">
                <a:solidFill>
                  <a:srgbClr val="343232"/>
                </a:solidFill>
                <a:latin typeface="Tenorite (Corps)"/>
              </a:rPr>
              <a:t>Conception et </a:t>
            </a:r>
            <a:r>
              <a:rPr lang="en-US" sz="4000" b="1" dirty="0" err="1">
                <a:solidFill>
                  <a:srgbClr val="343232"/>
                </a:solidFill>
                <a:latin typeface="Tenorite (Corps)"/>
              </a:rPr>
              <a:t>analyse</a:t>
            </a:r>
            <a:r>
              <a:rPr lang="en-US" sz="4000" b="1" dirty="0">
                <a:solidFill>
                  <a:srgbClr val="343232"/>
                </a:solidFill>
                <a:latin typeface="Tenorite (Corps)"/>
              </a:rPr>
              <a:t> </a:t>
            </a:r>
          </a:p>
        </p:txBody>
      </p:sp>
      <p:sp>
        <p:nvSpPr>
          <p:cNvPr id="32" name="ZoneTexte 31">
            <a:extLst>
              <a:ext uri="{FF2B5EF4-FFF2-40B4-BE49-F238E27FC236}">
                <a16:creationId xmlns:a16="http://schemas.microsoft.com/office/drawing/2014/main" id="{1B95473B-9DDC-00AE-8F84-ECB949014883}"/>
              </a:ext>
            </a:extLst>
          </p:cNvPr>
          <p:cNvSpPr txBox="1"/>
          <p:nvPr/>
        </p:nvSpPr>
        <p:spPr>
          <a:xfrm>
            <a:off x="711200" y="2388569"/>
            <a:ext cx="10227734" cy="1015663"/>
          </a:xfrm>
          <a:prstGeom prst="rect">
            <a:avLst/>
          </a:prstGeom>
          <a:noFill/>
        </p:spPr>
        <p:txBody>
          <a:bodyPr wrap="square">
            <a:spAutoFit/>
          </a:bodyPr>
          <a:lstStyle/>
          <a:p>
            <a:r>
              <a:rPr lang="fr-FR" sz="2000" spc="50" dirty="0">
                <a:solidFill>
                  <a:schemeClr val="tx1">
                    <a:lumMod val="75000"/>
                    <a:lumOff val="25000"/>
                  </a:schemeClr>
                </a:solidFill>
              </a:rPr>
              <a:t>La conception de l’application repose sur une modélisation UML structurée, permettant de représenter clairement le fonctionnement fonctionnel et technique de l’application.</a:t>
            </a:r>
          </a:p>
        </p:txBody>
      </p:sp>
      <p:sp>
        <p:nvSpPr>
          <p:cNvPr id="37" name="Freeform 3">
            <a:extLst>
              <a:ext uri="{FF2B5EF4-FFF2-40B4-BE49-F238E27FC236}">
                <a16:creationId xmlns:a16="http://schemas.microsoft.com/office/drawing/2014/main" id="{54399B31-2889-F02C-4A25-7F3BD63B7568}"/>
              </a:ext>
            </a:extLst>
          </p:cNvPr>
          <p:cNvSpPr/>
          <p:nvPr/>
        </p:nvSpPr>
        <p:spPr>
          <a:xfrm rot="9157919">
            <a:off x="7902883" y="5579064"/>
            <a:ext cx="5587511" cy="3280560"/>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MA"/>
          </a:p>
        </p:txBody>
      </p:sp>
      <p:sp>
        <p:nvSpPr>
          <p:cNvPr id="39" name="ZoneTexte 38">
            <a:extLst>
              <a:ext uri="{FF2B5EF4-FFF2-40B4-BE49-F238E27FC236}">
                <a16:creationId xmlns:a16="http://schemas.microsoft.com/office/drawing/2014/main" id="{7D06C81F-CC58-7F6B-BED4-5BD471815672}"/>
              </a:ext>
            </a:extLst>
          </p:cNvPr>
          <p:cNvSpPr txBox="1"/>
          <p:nvPr/>
        </p:nvSpPr>
        <p:spPr>
          <a:xfrm>
            <a:off x="711200" y="3587351"/>
            <a:ext cx="10227734" cy="707886"/>
          </a:xfrm>
          <a:prstGeom prst="rect">
            <a:avLst/>
          </a:prstGeom>
          <a:noFill/>
        </p:spPr>
        <p:txBody>
          <a:bodyPr wrap="square">
            <a:spAutoFit/>
          </a:bodyPr>
          <a:lstStyle/>
          <a:p>
            <a:r>
              <a:rPr lang="fr-FR" sz="2000" spc="50" dirty="0">
                <a:solidFill>
                  <a:schemeClr val="tx1">
                    <a:lumMod val="75000"/>
                    <a:lumOff val="25000"/>
                  </a:schemeClr>
                </a:solidFill>
              </a:rPr>
              <a:t>Les diagrammes ont été réalisés à l’aide de l’outil </a:t>
            </a:r>
            <a:r>
              <a:rPr lang="fr-FR" sz="2000" spc="50" dirty="0" err="1">
                <a:solidFill>
                  <a:schemeClr val="tx1">
                    <a:lumMod val="75000"/>
                    <a:lumOff val="25000"/>
                  </a:schemeClr>
                </a:solidFill>
              </a:rPr>
              <a:t>StarUML</a:t>
            </a:r>
            <a:r>
              <a:rPr lang="fr-FR" sz="2000" spc="50" dirty="0">
                <a:solidFill>
                  <a:schemeClr val="tx1">
                    <a:lumMod val="75000"/>
                    <a:lumOff val="25000"/>
                  </a:schemeClr>
                </a:solidFill>
              </a:rPr>
              <a:t>, pour modéliser les cas d’utilisation, les entités et les relations principales du système.</a:t>
            </a:r>
            <a:endParaRPr lang="fr-MA" sz="2000" spc="50" dirty="0">
              <a:solidFill>
                <a:schemeClr val="tx1">
                  <a:lumMod val="75000"/>
                  <a:lumOff val="25000"/>
                </a:schemeClr>
              </a:solidFill>
            </a:endParaRPr>
          </a:p>
        </p:txBody>
      </p:sp>
      <p:sp>
        <p:nvSpPr>
          <p:cNvPr id="40" name="Slide Number Placeholder 5">
            <a:extLst>
              <a:ext uri="{FF2B5EF4-FFF2-40B4-BE49-F238E27FC236}">
                <a16:creationId xmlns:a16="http://schemas.microsoft.com/office/drawing/2014/main" id="{EC224C08-6D94-1C01-4EA8-8A24497018A8}"/>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7</a:t>
            </a:fld>
            <a:endParaRPr lang="fr-FR" sz="900" dirty="0">
              <a:solidFill>
                <a:schemeClr val="tx1">
                  <a:tint val="75000"/>
                </a:schemeClr>
              </a:solidFill>
            </a:endParaRPr>
          </a:p>
        </p:txBody>
      </p:sp>
    </p:spTree>
    <p:extLst>
      <p:ext uri="{BB962C8B-B14F-4D97-AF65-F5344CB8AC3E}">
        <p14:creationId xmlns:p14="http://schemas.microsoft.com/office/powerpoint/2010/main" val="4130730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A13B-2BAB-1FAD-B265-283BF28C2D69}"/>
            </a:ext>
          </a:extLst>
        </p:cNvPr>
        <p:cNvGrpSpPr/>
        <p:nvPr/>
      </p:nvGrpSpPr>
      <p:grpSpPr>
        <a:xfrm>
          <a:off x="0" y="0"/>
          <a:ext cx="0" cy="0"/>
          <a:chOff x="0" y="0"/>
          <a:chExt cx="0" cy="0"/>
        </a:xfrm>
      </p:grpSpPr>
      <p:sp>
        <p:nvSpPr>
          <p:cNvPr id="30" name="ZoneTexte 29">
            <a:extLst>
              <a:ext uri="{FF2B5EF4-FFF2-40B4-BE49-F238E27FC236}">
                <a16:creationId xmlns:a16="http://schemas.microsoft.com/office/drawing/2014/main" id="{E3757EE9-9F1A-2C83-1BE1-599B8263A5E6}"/>
              </a:ext>
            </a:extLst>
          </p:cNvPr>
          <p:cNvSpPr txBox="1"/>
          <p:nvPr/>
        </p:nvSpPr>
        <p:spPr>
          <a:xfrm>
            <a:off x="2347383" y="128601"/>
            <a:ext cx="7497234" cy="707886"/>
          </a:xfrm>
          <a:prstGeom prst="rect">
            <a:avLst/>
          </a:prstGeom>
          <a:noFill/>
        </p:spPr>
        <p:txBody>
          <a:bodyPr wrap="square">
            <a:spAutoFit/>
          </a:bodyPr>
          <a:lstStyle/>
          <a:p>
            <a:r>
              <a:rPr lang="fr-FR" sz="4000" b="1" dirty="0">
                <a:solidFill>
                  <a:srgbClr val="343232"/>
                </a:solidFill>
                <a:latin typeface="Tenorite (Corps)"/>
              </a:rPr>
              <a:t>Diagramme de cas d’utilisation</a:t>
            </a:r>
            <a:endParaRPr lang="fr-MA" sz="4000" b="1" dirty="0">
              <a:solidFill>
                <a:srgbClr val="343232"/>
              </a:solidFill>
              <a:latin typeface="Tenorite (Corps)"/>
            </a:endParaRPr>
          </a:p>
        </p:txBody>
      </p:sp>
      <p:pic>
        <p:nvPicPr>
          <p:cNvPr id="31" name="Image 30" descr="Une image contenant texte, diagramme, document, Parallèle&#10;&#10;Le contenu généré par l’IA peut être incorrect.">
            <a:extLst>
              <a:ext uri="{FF2B5EF4-FFF2-40B4-BE49-F238E27FC236}">
                <a16:creationId xmlns:a16="http://schemas.microsoft.com/office/drawing/2014/main" id="{EB6BC0D3-AD57-3BDC-9871-2CBCA85F0B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56266" y="966645"/>
            <a:ext cx="9110134" cy="5617108"/>
          </a:xfrm>
          <a:prstGeom prst="rect">
            <a:avLst/>
          </a:prstGeom>
          <a:noFill/>
          <a:ln>
            <a:noFill/>
          </a:ln>
        </p:spPr>
      </p:pic>
      <p:sp>
        <p:nvSpPr>
          <p:cNvPr id="32" name="Slide Number Placeholder 5">
            <a:extLst>
              <a:ext uri="{FF2B5EF4-FFF2-40B4-BE49-F238E27FC236}">
                <a16:creationId xmlns:a16="http://schemas.microsoft.com/office/drawing/2014/main" id="{8686E51B-B95E-EEE2-8FC3-4FA1FD329916}"/>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8</a:t>
            </a:fld>
            <a:endParaRPr lang="fr-FR" sz="900" dirty="0">
              <a:solidFill>
                <a:schemeClr val="tx1">
                  <a:tint val="75000"/>
                </a:schemeClr>
              </a:solidFill>
            </a:endParaRPr>
          </a:p>
        </p:txBody>
      </p:sp>
    </p:spTree>
    <p:extLst>
      <p:ext uri="{BB962C8B-B14F-4D97-AF65-F5344CB8AC3E}">
        <p14:creationId xmlns:p14="http://schemas.microsoft.com/office/powerpoint/2010/main" val="4221844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2E181-80B1-EB6F-3BDC-097EBA729700}"/>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402C7E17-D107-ABAD-5DB3-6C538BACC8E5}"/>
              </a:ext>
            </a:extLst>
          </p:cNvPr>
          <p:cNvSpPr txBox="1"/>
          <p:nvPr/>
        </p:nvSpPr>
        <p:spPr>
          <a:xfrm>
            <a:off x="3915833" y="348734"/>
            <a:ext cx="6104466" cy="707886"/>
          </a:xfrm>
          <a:prstGeom prst="rect">
            <a:avLst/>
          </a:prstGeom>
          <a:noFill/>
        </p:spPr>
        <p:txBody>
          <a:bodyPr wrap="square">
            <a:spAutoFit/>
          </a:bodyPr>
          <a:lstStyle/>
          <a:p>
            <a:r>
              <a:rPr lang="fr-FR" sz="4000" b="1" dirty="0">
                <a:solidFill>
                  <a:srgbClr val="343232"/>
                </a:solidFill>
                <a:latin typeface="Tenorite (Corps)"/>
              </a:rPr>
              <a:t>Diagramme de classes</a:t>
            </a:r>
            <a:endParaRPr lang="fr-MA" sz="4000" b="1" dirty="0">
              <a:solidFill>
                <a:srgbClr val="343232"/>
              </a:solidFill>
              <a:latin typeface="Tenorite (Corps)"/>
            </a:endParaRPr>
          </a:p>
        </p:txBody>
      </p:sp>
      <p:pic>
        <p:nvPicPr>
          <p:cNvPr id="4" name="Image 3" descr="Une image contenant texte, diagramme, Plan, schématique&#10;&#10;Le contenu généré par l’IA peut être incorrect.">
            <a:extLst>
              <a:ext uri="{FF2B5EF4-FFF2-40B4-BE49-F238E27FC236}">
                <a16:creationId xmlns:a16="http://schemas.microsoft.com/office/drawing/2014/main" id="{4932CD14-913E-D839-004D-69C22F0CCD62}"/>
              </a:ext>
            </a:extLst>
          </p:cNvPr>
          <p:cNvPicPr>
            <a:picLocks noChangeAspect="1"/>
          </p:cNvPicPr>
          <p:nvPr/>
        </p:nvPicPr>
        <p:blipFill rotWithShape="1">
          <a:blip r:embed="rId3">
            <a:extLst>
              <a:ext uri="{28A0092B-C50C-407E-A947-70E740481C1C}">
                <a14:useLocalDpi xmlns:a14="http://schemas.microsoft.com/office/drawing/2010/main" val="0"/>
              </a:ext>
            </a:extLst>
          </a:blip>
          <a:srcRect l="1322" t="616"/>
          <a:stretch/>
        </p:blipFill>
        <p:spPr bwMode="auto">
          <a:xfrm>
            <a:off x="2077945" y="1303867"/>
            <a:ext cx="8036109" cy="4885449"/>
          </a:xfrm>
          <a:prstGeom prst="rect">
            <a:avLst/>
          </a:prstGeom>
          <a:noFill/>
          <a:ln>
            <a:noFill/>
          </a:ln>
          <a:extLst>
            <a:ext uri="{53640926-AAD7-44D8-BBD7-CCE9431645EC}">
              <a14:shadowObscured xmlns:a14="http://schemas.microsoft.com/office/drawing/2010/main"/>
            </a:ext>
          </a:extLst>
        </p:spPr>
      </p:pic>
      <p:sp>
        <p:nvSpPr>
          <p:cNvPr id="5" name="Slide Number Placeholder 5">
            <a:extLst>
              <a:ext uri="{FF2B5EF4-FFF2-40B4-BE49-F238E27FC236}">
                <a16:creationId xmlns:a16="http://schemas.microsoft.com/office/drawing/2014/main" id="{2B03E40F-A922-D5F6-DDB1-539A88F5C05C}"/>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9</a:t>
            </a:fld>
            <a:endParaRPr lang="fr-FR" sz="900" dirty="0">
              <a:solidFill>
                <a:schemeClr val="tx1">
                  <a:tint val="75000"/>
                </a:schemeClr>
              </a:solidFill>
            </a:endParaRPr>
          </a:p>
        </p:txBody>
      </p:sp>
    </p:spTree>
    <p:extLst>
      <p:ext uri="{BB962C8B-B14F-4D97-AF65-F5344CB8AC3E}">
        <p14:creationId xmlns:p14="http://schemas.microsoft.com/office/powerpoint/2010/main" val="3936933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04EF7-07BD-E83E-AF1A-68F56EC2779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F4776AD-B102-8334-EAFC-8886A1DBBE84}"/>
              </a:ext>
            </a:extLst>
          </p:cNvPr>
          <p:cNvSpPr txBox="1"/>
          <p:nvPr/>
        </p:nvSpPr>
        <p:spPr>
          <a:xfrm>
            <a:off x="1524000" y="225963"/>
            <a:ext cx="9144000" cy="713080"/>
          </a:xfrm>
          <a:prstGeom prst="rect">
            <a:avLst/>
          </a:prstGeom>
          <a:noFill/>
        </p:spPr>
        <p:txBody>
          <a:bodyPr wrap="square">
            <a:spAutoFit/>
          </a:bodyPr>
          <a:lstStyle/>
          <a:p>
            <a:pPr algn="ctr">
              <a:lnSpc>
                <a:spcPct val="107000"/>
              </a:lnSpc>
              <a:spcAft>
                <a:spcPts val="800"/>
              </a:spcAft>
            </a:pPr>
            <a:r>
              <a:rPr lang="fr-MA" sz="4000" b="1" dirty="0">
                <a:solidFill>
                  <a:srgbClr val="343232"/>
                </a:solidFill>
                <a:latin typeface="Tenorite (Corps)"/>
              </a:rPr>
              <a:t>Diagrammes de séquence</a:t>
            </a:r>
          </a:p>
        </p:txBody>
      </p:sp>
      <p:sp>
        <p:nvSpPr>
          <p:cNvPr id="3" name="ZoneTexte 2">
            <a:extLst>
              <a:ext uri="{FF2B5EF4-FFF2-40B4-BE49-F238E27FC236}">
                <a16:creationId xmlns:a16="http://schemas.microsoft.com/office/drawing/2014/main" id="{BA2949F6-6E7F-485C-03B5-847D87E0AFDC}"/>
              </a:ext>
            </a:extLst>
          </p:cNvPr>
          <p:cNvSpPr txBox="1"/>
          <p:nvPr/>
        </p:nvSpPr>
        <p:spPr>
          <a:xfrm>
            <a:off x="2636137" y="912886"/>
            <a:ext cx="9144000" cy="588944"/>
          </a:xfrm>
          <a:prstGeom prst="rect">
            <a:avLst/>
          </a:prstGeom>
          <a:noFill/>
        </p:spPr>
        <p:txBody>
          <a:bodyPr wrap="square">
            <a:spAutoFit/>
          </a:bodyPr>
          <a:lstStyle/>
          <a:p>
            <a:pPr>
              <a:lnSpc>
                <a:spcPct val="107000"/>
              </a:lnSpc>
              <a:spcAft>
                <a:spcPts val="800"/>
              </a:spcAft>
              <a:tabLst>
                <a:tab pos="1609725" algn="l"/>
              </a:tabLst>
            </a:pPr>
            <a:r>
              <a:rPr lang="fr-MA" sz="3200" b="1" dirty="0">
                <a:solidFill>
                  <a:srgbClr val="343232"/>
                </a:solidFill>
                <a:latin typeface="Tenorite (Corps)"/>
              </a:rPr>
              <a:t>Diagramme de séquence – Inscription</a:t>
            </a:r>
          </a:p>
        </p:txBody>
      </p:sp>
      <p:pic>
        <p:nvPicPr>
          <p:cNvPr id="4" name="Image 3" descr="Une image contenant texte, reçu, Parallèle, diagramme&#10;&#10;Le contenu généré par l’IA peut être incorrect.">
            <a:extLst>
              <a:ext uri="{FF2B5EF4-FFF2-40B4-BE49-F238E27FC236}">
                <a16:creationId xmlns:a16="http://schemas.microsoft.com/office/drawing/2014/main" id="{47CB3052-9296-DEC4-3872-E7228675E8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7999" y="1652123"/>
            <a:ext cx="6846675" cy="4817028"/>
          </a:xfrm>
          <a:prstGeom prst="rect">
            <a:avLst/>
          </a:prstGeom>
          <a:noFill/>
          <a:ln>
            <a:noFill/>
          </a:ln>
        </p:spPr>
      </p:pic>
      <p:sp>
        <p:nvSpPr>
          <p:cNvPr id="5" name="Slide Number Placeholder 5">
            <a:extLst>
              <a:ext uri="{FF2B5EF4-FFF2-40B4-BE49-F238E27FC236}">
                <a16:creationId xmlns:a16="http://schemas.microsoft.com/office/drawing/2014/main" id="{1832BD50-2749-5C5B-CDB1-F57FE327924F}"/>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10</a:t>
            </a:fld>
            <a:endParaRPr lang="fr-FR" sz="900" dirty="0">
              <a:solidFill>
                <a:schemeClr val="tx1">
                  <a:tint val="75000"/>
                </a:schemeClr>
              </a:solidFill>
            </a:endParaRPr>
          </a:p>
        </p:txBody>
      </p:sp>
    </p:spTree>
    <p:extLst>
      <p:ext uri="{BB962C8B-B14F-4D97-AF65-F5344CB8AC3E}">
        <p14:creationId xmlns:p14="http://schemas.microsoft.com/office/powerpoint/2010/main" val="800829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0DD84-219E-8EC1-45CE-8166F159F1D0}"/>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D0E562B4-2CD8-D80C-C946-CD5EE375CF11}"/>
              </a:ext>
            </a:extLst>
          </p:cNvPr>
          <p:cNvSpPr txBox="1"/>
          <p:nvPr/>
        </p:nvSpPr>
        <p:spPr>
          <a:xfrm>
            <a:off x="2188633" y="314867"/>
            <a:ext cx="8394700" cy="584775"/>
          </a:xfrm>
          <a:prstGeom prst="rect">
            <a:avLst/>
          </a:prstGeom>
          <a:noFill/>
        </p:spPr>
        <p:txBody>
          <a:bodyPr wrap="square">
            <a:spAutoFit/>
          </a:bodyPr>
          <a:lstStyle/>
          <a:p>
            <a:r>
              <a:rPr lang="fr-MA" sz="3200" b="1" dirty="0">
                <a:solidFill>
                  <a:srgbClr val="343232"/>
                </a:solidFill>
                <a:latin typeface="Tenorite (Corps)"/>
              </a:rPr>
              <a:t>Diagramme de séquence – Authentification</a:t>
            </a:r>
          </a:p>
        </p:txBody>
      </p:sp>
      <p:pic>
        <p:nvPicPr>
          <p:cNvPr id="6" name="Image 5" descr="Une image contenant texte, Parallèle, diagramme, nombre&#10;&#10;Le contenu généré par l’IA peut être incorrect.">
            <a:extLst>
              <a:ext uri="{FF2B5EF4-FFF2-40B4-BE49-F238E27FC236}">
                <a16:creationId xmlns:a16="http://schemas.microsoft.com/office/drawing/2014/main" id="{075C03D8-0B48-F392-FA59-51860488F50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88633" y="1119775"/>
            <a:ext cx="7668521" cy="5562673"/>
          </a:xfrm>
          <a:prstGeom prst="rect">
            <a:avLst/>
          </a:prstGeom>
          <a:noFill/>
          <a:ln>
            <a:noFill/>
          </a:ln>
        </p:spPr>
      </p:pic>
      <p:sp>
        <p:nvSpPr>
          <p:cNvPr id="7" name="Slide Number Placeholder 5">
            <a:extLst>
              <a:ext uri="{FF2B5EF4-FFF2-40B4-BE49-F238E27FC236}">
                <a16:creationId xmlns:a16="http://schemas.microsoft.com/office/drawing/2014/main" id="{629A698C-5C82-C9DB-089A-245E0D4E71CE}"/>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11</a:t>
            </a:fld>
            <a:endParaRPr lang="fr-FR" sz="900" dirty="0">
              <a:solidFill>
                <a:schemeClr val="tx1">
                  <a:tint val="75000"/>
                </a:schemeClr>
              </a:solidFill>
            </a:endParaRPr>
          </a:p>
        </p:txBody>
      </p:sp>
    </p:spTree>
    <p:extLst>
      <p:ext uri="{BB962C8B-B14F-4D97-AF65-F5344CB8AC3E}">
        <p14:creationId xmlns:p14="http://schemas.microsoft.com/office/powerpoint/2010/main" val="2051407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206AB-50AC-3ED7-EF47-DE0A552F3D1A}"/>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10507A31-E553-1C87-73D2-B346538D31AA}"/>
              </a:ext>
            </a:extLst>
          </p:cNvPr>
          <p:cNvSpPr txBox="1"/>
          <p:nvPr/>
        </p:nvSpPr>
        <p:spPr>
          <a:xfrm>
            <a:off x="603250" y="252409"/>
            <a:ext cx="10985500" cy="588944"/>
          </a:xfrm>
          <a:prstGeom prst="rect">
            <a:avLst/>
          </a:prstGeom>
          <a:noFill/>
        </p:spPr>
        <p:txBody>
          <a:bodyPr wrap="square">
            <a:spAutoFit/>
          </a:bodyPr>
          <a:lstStyle/>
          <a:p>
            <a:pPr>
              <a:lnSpc>
                <a:spcPct val="107000"/>
              </a:lnSpc>
              <a:spcAft>
                <a:spcPts val="800"/>
              </a:spcAft>
              <a:tabLst>
                <a:tab pos="1609725" algn="l"/>
              </a:tabLst>
            </a:pPr>
            <a:r>
              <a:rPr lang="fr-MA" sz="3200" b="1" dirty="0">
                <a:solidFill>
                  <a:srgbClr val="343232"/>
                </a:solidFill>
                <a:latin typeface="Tenorite (Corps)"/>
              </a:rPr>
              <a:t>Diagramme de séquence - Connexion entre deux utilisateurs</a:t>
            </a:r>
          </a:p>
        </p:txBody>
      </p:sp>
      <p:pic>
        <p:nvPicPr>
          <p:cNvPr id="4" name="Image 3" descr="Une image contenant texte, capture d’écran, Parallèle, nombre&#10;&#10;Le contenu généré par l’IA peut être incorrect.">
            <a:extLst>
              <a:ext uri="{FF2B5EF4-FFF2-40B4-BE49-F238E27FC236}">
                <a16:creationId xmlns:a16="http://schemas.microsoft.com/office/drawing/2014/main" id="{810783E7-5C2C-112E-D99A-0E97A09D364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30400" y="841353"/>
            <a:ext cx="8788401" cy="5770063"/>
          </a:xfrm>
          <a:prstGeom prst="rect">
            <a:avLst/>
          </a:prstGeom>
          <a:noFill/>
          <a:ln>
            <a:noFill/>
          </a:ln>
        </p:spPr>
      </p:pic>
      <p:sp>
        <p:nvSpPr>
          <p:cNvPr id="5" name="Slide Number Placeholder 5">
            <a:extLst>
              <a:ext uri="{FF2B5EF4-FFF2-40B4-BE49-F238E27FC236}">
                <a16:creationId xmlns:a16="http://schemas.microsoft.com/office/drawing/2014/main" id="{35F0CB8C-8606-5373-F3E3-55309F84F99E}"/>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12</a:t>
            </a:fld>
            <a:endParaRPr lang="fr-FR" sz="900" dirty="0">
              <a:solidFill>
                <a:schemeClr val="tx1">
                  <a:tint val="75000"/>
                </a:schemeClr>
              </a:solidFill>
            </a:endParaRPr>
          </a:p>
        </p:txBody>
      </p:sp>
    </p:spTree>
    <p:extLst>
      <p:ext uri="{BB962C8B-B14F-4D97-AF65-F5344CB8AC3E}">
        <p14:creationId xmlns:p14="http://schemas.microsoft.com/office/powerpoint/2010/main" val="3054972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8AE2E-B5D4-47B5-340B-F31099A50BB3}"/>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333C1C4C-1FE3-50B9-D93B-9C69FC7F60FE}"/>
              </a:ext>
            </a:extLst>
          </p:cNvPr>
          <p:cNvSpPr txBox="1"/>
          <p:nvPr/>
        </p:nvSpPr>
        <p:spPr>
          <a:xfrm>
            <a:off x="762000" y="210235"/>
            <a:ext cx="11548533" cy="584775"/>
          </a:xfrm>
          <a:prstGeom prst="rect">
            <a:avLst/>
          </a:prstGeom>
          <a:noFill/>
        </p:spPr>
        <p:txBody>
          <a:bodyPr wrap="square">
            <a:spAutoFit/>
          </a:bodyPr>
          <a:lstStyle/>
          <a:p>
            <a:r>
              <a:rPr lang="fr-MA" sz="3200" b="1" dirty="0">
                <a:solidFill>
                  <a:srgbClr val="343232"/>
                </a:solidFill>
                <a:latin typeface="Tenorite (Corps)"/>
              </a:rPr>
              <a:t>Diagramme de séquence – Messagerie entre deux utilisateurs</a:t>
            </a:r>
          </a:p>
        </p:txBody>
      </p:sp>
      <p:pic>
        <p:nvPicPr>
          <p:cNvPr id="6" name="Image 5" descr="Une image contenant texte, reçu, Parallèle, nombre&#10;&#10;Le contenu généré par l’IA peut être incorrect.">
            <a:extLst>
              <a:ext uri="{FF2B5EF4-FFF2-40B4-BE49-F238E27FC236}">
                <a16:creationId xmlns:a16="http://schemas.microsoft.com/office/drawing/2014/main" id="{E22BAA84-A8E1-4670-516E-A440A28DFCFF}"/>
              </a:ext>
            </a:extLst>
          </p:cNvPr>
          <p:cNvPicPr>
            <a:picLocks noChangeAspect="1"/>
          </p:cNvPicPr>
          <p:nvPr/>
        </p:nvPicPr>
        <p:blipFill>
          <a:blip r:embed="rId3"/>
          <a:stretch>
            <a:fillRect/>
          </a:stretch>
        </p:blipFill>
        <p:spPr>
          <a:xfrm>
            <a:off x="1467338" y="981276"/>
            <a:ext cx="9257323" cy="5301668"/>
          </a:xfrm>
          <a:prstGeom prst="rect">
            <a:avLst/>
          </a:prstGeom>
        </p:spPr>
      </p:pic>
      <p:sp>
        <p:nvSpPr>
          <p:cNvPr id="7" name="Slide Number Placeholder 5">
            <a:extLst>
              <a:ext uri="{FF2B5EF4-FFF2-40B4-BE49-F238E27FC236}">
                <a16:creationId xmlns:a16="http://schemas.microsoft.com/office/drawing/2014/main" id="{960CCC2D-9CCD-443A-DFBC-CEDA8E690C7C}"/>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13</a:t>
            </a:fld>
            <a:endParaRPr lang="fr-FR" sz="900" dirty="0">
              <a:solidFill>
                <a:schemeClr val="tx1">
                  <a:tint val="75000"/>
                </a:schemeClr>
              </a:solidFill>
            </a:endParaRPr>
          </a:p>
        </p:txBody>
      </p:sp>
    </p:spTree>
    <p:extLst>
      <p:ext uri="{BB962C8B-B14F-4D97-AF65-F5344CB8AC3E}">
        <p14:creationId xmlns:p14="http://schemas.microsoft.com/office/powerpoint/2010/main" val="3941905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8DB3C-3F5F-CB29-D28F-B8E44821395B}"/>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86A5202E-3F08-036E-9EAF-34AC78A579D8}"/>
              </a:ext>
            </a:extLst>
          </p:cNvPr>
          <p:cNvSpPr txBox="1"/>
          <p:nvPr/>
        </p:nvSpPr>
        <p:spPr>
          <a:xfrm>
            <a:off x="1782233" y="230201"/>
            <a:ext cx="9258300" cy="584775"/>
          </a:xfrm>
          <a:prstGeom prst="rect">
            <a:avLst/>
          </a:prstGeom>
          <a:noFill/>
        </p:spPr>
        <p:txBody>
          <a:bodyPr wrap="square">
            <a:spAutoFit/>
          </a:bodyPr>
          <a:lstStyle/>
          <a:p>
            <a:r>
              <a:rPr lang="fr-MA" sz="3200" b="1" dirty="0">
                <a:solidFill>
                  <a:srgbClr val="343232"/>
                </a:solidFill>
                <a:latin typeface="Tenorite (Corps)"/>
              </a:rPr>
              <a:t>Diagramme de séquence – Gestion des groupes</a:t>
            </a:r>
          </a:p>
        </p:txBody>
      </p:sp>
      <p:pic>
        <p:nvPicPr>
          <p:cNvPr id="4" name="Image 3" descr="Une image contenant texte, diagramme, reçu, Parallèle&#10;&#10;Le contenu généré par l’IA peut être incorrect.">
            <a:extLst>
              <a:ext uri="{FF2B5EF4-FFF2-40B4-BE49-F238E27FC236}">
                <a16:creationId xmlns:a16="http://schemas.microsoft.com/office/drawing/2014/main" id="{688473FD-1B6B-4FF8-3A20-51B6AFD1A1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6933" y="820771"/>
            <a:ext cx="9258300" cy="5750198"/>
          </a:xfrm>
          <a:prstGeom prst="rect">
            <a:avLst/>
          </a:prstGeom>
          <a:noFill/>
          <a:ln>
            <a:noFill/>
          </a:ln>
        </p:spPr>
      </p:pic>
      <p:sp>
        <p:nvSpPr>
          <p:cNvPr id="5" name="Slide Number Placeholder 5">
            <a:extLst>
              <a:ext uri="{FF2B5EF4-FFF2-40B4-BE49-F238E27FC236}">
                <a16:creationId xmlns:a16="http://schemas.microsoft.com/office/drawing/2014/main" id="{346C05D1-F2BC-7100-0C9A-FB686B6D5A63}"/>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14</a:t>
            </a:fld>
            <a:endParaRPr lang="fr-FR" sz="900" dirty="0">
              <a:solidFill>
                <a:schemeClr val="tx1">
                  <a:tint val="75000"/>
                </a:schemeClr>
              </a:solidFill>
            </a:endParaRPr>
          </a:p>
        </p:txBody>
      </p:sp>
    </p:spTree>
    <p:extLst>
      <p:ext uri="{BB962C8B-B14F-4D97-AF65-F5344CB8AC3E}">
        <p14:creationId xmlns:p14="http://schemas.microsoft.com/office/powerpoint/2010/main" val="3712869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48A93-679D-16A8-49E4-0DFFF6283552}"/>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E4DD5900-8C82-C556-77D2-CE88C98CF86F}"/>
              </a:ext>
            </a:extLst>
          </p:cNvPr>
          <p:cNvSpPr txBox="1"/>
          <p:nvPr/>
        </p:nvSpPr>
        <p:spPr>
          <a:xfrm>
            <a:off x="660400" y="311835"/>
            <a:ext cx="11531600" cy="584775"/>
          </a:xfrm>
          <a:prstGeom prst="rect">
            <a:avLst/>
          </a:prstGeom>
          <a:noFill/>
        </p:spPr>
        <p:txBody>
          <a:bodyPr wrap="square">
            <a:spAutoFit/>
          </a:bodyPr>
          <a:lstStyle/>
          <a:p>
            <a:r>
              <a:rPr lang="fr-MA" sz="3200" b="1" dirty="0">
                <a:solidFill>
                  <a:srgbClr val="343232"/>
                </a:solidFill>
                <a:latin typeface="Tenorite (Corps)"/>
              </a:rPr>
              <a:t>Diagramme de séquence – Interaction autour d’une publication</a:t>
            </a:r>
          </a:p>
        </p:txBody>
      </p:sp>
      <p:pic>
        <p:nvPicPr>
          <p:cNvPr id="4" name="Image 3" descr="Une image contenant texte, diagramme, reçu, Parallèle&#10;&#10;Le contenu généré par l’IA peut être incorrect.">
            <a:extLst>
              <a:ext uri="{FF2B5EF4-FFF2-40B4-BE49-F238E27FC236}">
                <a16:creationId xmlns:a16="http://schemas.microsoft.com/office/drawing/2014/main" id="{43E332B2-F5A4-008F-E208-5A284ED06783}"/>
              </a:ext>
            </a:extLst>
          </p:cNvPr>
          <p:cNvPicPr>
            <a:picLocks noChangeAspect="1"/>
          </p:cNvPicPr>
          <p:nvPr/>
        </p:nvPicPr>
        <p:blipFill>
          <a:blip r:embed="rId3"/>
          <a:stretch>
            <a:fillRect/>
          </a:stretch>
        </p:blipFill>
        <p:spPr>
          <a:xfrm>
            <a:off x="1837266" y="896610"/>
            <a:ext cx="8517467" cy="5461165"/>
          </a:xfrm>
          <a:prstGeom prst="rect">
            <a:avLst/>
          </a:prstGeom>
        </p:spPr>
      </p:pic>
      <p:sp>
        <p:nvSpPr>
          <p:cNvPr id="5" name="Slide Number Placeholder 5">
            <a:extLst>
              <a:ext uri="{FF2B5EF4-FFF2-40B4-BE49-F238E27FC236}">
                <a16:creationId xmlns:a16="http://schemas.microsoft.com/office/drawing/2014/main" id="{1E11A363-C44B-9558-A588-7D85A8315364}"/>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15</a:t>
            </a:fld>
            <a:endParaRPr lang="fr-FR" sz="900" dirty="0">
              <a:solidFill>
                <a:schemeClr val="tx1">
                  <a:tint val="75000"/>
                </a:schemeClr>
              </a:solidFill>
            </a:endParaRPr>
          </a:p>
        </p:txBody>
      </p:sp>
    </p:spTree>
    <p:extLst>
      <p:ext uri="{BB962C8B-B14F-4D97-AF65-F5344CB8AC3E}">
        <p14:creationId xmlns:p14="http://schemas.microsoft.com/office/powerpoint/2010/main" val="1694247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Hypertext Markup Language — Wikipédia">
            <a:extLst>
              <a:ext uri="{FF2B5EF4-FFF2-40B4-BE49-F238E27FC236}">
                <a16:creationId xmlns:a16="http://schemas.microsoft.com/office/drawing/2014/main" id="{EE00C01F-B76A-54F4-3A4A-E5F8D4F6215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740323" y="3728649"/>
            <a:ext cx="1320797" cy="1320797"/>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06EF174B-A276-C1FB-4C83-30598C68BA4D}"/>
              </a:ext>
            </a:extLst>
          </p:cNvPr>
          <p:cNvSpPr txBox="1"/>
          <p:nvPr/>
        </p:nvSpPr>
        <p:spPr>
          <a:xfrm>
            <a:off x="2394517" y="1732284"/>
            <a:ext cx="7846395" cy="707886"/>
          </a:xfrm>
          <a:prstGeom prst="rect">
            <a:avLst/>
          </a:prstGeom>
          <a:noFill/>
        </p:spPr>
        <p:txBody>
          <a:bodyPr wrap="square">
            <a:spAutoFit/>
          </a:bodyPr>
          <a:lstStyle/>
          <a:p>
            <a:pPr algn="ctr"/>
            <a:r>
              <a:rPr lang="fr-MA" sz="4000" b="1" dirty="0">
                <a:solidFill>
                  <a:srgbClr val="343232"/>
                </a:solidFill>
                <a:latin typeface="Tenorite (Corps)"/>
              </a:rPr>
              <a:t>Technologies utilisées (Frontend)</a:t>
            </a:r>
          </a:p>
        </p:txBody>
      </p:sp>
      <p:sp>
        <p:nvSpPr>
          <p:cNvPr id="16" name="TextBox 10">
            <a:extLst>
              <a:ext uri="{FF2B5EF4-FFF2-40B4-BE49-F238E27FC236}">
                <a16:creationId xmlns:a16="http://schemas.microsoft.com/office/drawing/2014/main" id="{AE1ECF10-95D0-DAE0-56A3-045BA50BE457}"/>
              </a:ext>
            </a:extLst>
          </p:cNvPr>
          <p:cNvSpPr txBox="1"/>
          <p:nvPr/>
        </p:nvSpPr>
        <p:spPr>
          <a:xfrm>
            <a:off x="3061120" y="880266"/>
            <a:ext cx="9859013" cy="615553"/>
          </a:xfrm>
          <a:prstGeom prst="rect">
            <a:avLst/>
          </a:prstGeom>
        </p:spPr>
        <p:txBody>
          <a:bodyPr wrap="square" lIns="0" tIns="0" rIns="0" bIns="0" rtlCol="0" anchor="t">
            <a:spAutoFit/>
          </a:bodyPr>
          <a:lstStyle/>
          <a:p>
            <a:r>
              <a:rPr lang="fr-MA" sz="4000" b="1" dirty="0">
                <a:solidFill>
                  <a:srgbClr val="343232"/>
                </a:solidFill>
                <a:latin typeface="Tenorite (Corps)"/>
              </a:rPr>
              <a:t>Architecture Technique</a:t>
            </a:r>
          </a:p>
        </p:txBody>
      </p:sp>
      <p:pic>
        <p:nvPicPr>
          <p:cNvPr id="17" name="Picture 4">
            <a:extLst>
              <a:ext uri="{FF2B5EF4-FFF2-40B4-BE49-F238E27FC236}">
                <a16:creationId xmlns:a16="http://schemas.microsoft.com/office/drawing/2014/main" id="{7CB64A45-E355-F8BC-2DC3-180AE5BC317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37400" y="3757432"/>
            <a:ext cx="1013136" cy="132079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a:extLst>
              <a:ext uri="{FF2B5EF4-FFF2-40B4-BE49-F238E27FC236}">
                <a16:creationId xmlns:a16="http://schemas.microsoft.com/office/drawing/2014/main" id="{2E073F2E-BB59-0705-5638-F49B507F99A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99206" y="3757432"/>
            <a:ext cx="1384628" cy="132079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a:extLst>
              <a:ext uri="{FF2B5EF4-FFF2-40B4-BE49-F238E27FC236}">
                <a16:creationId xmlns:a16="http://schemas.microsoft.com/office/drawing/2014/main" id="{F9AF6BA0-E4C1-7703-5180-034B1E3891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09867" y="3777678"/>
            <a:ext cx="1617506" cy="132079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0" descr="JavaScript Logo, symbol, meaning, history, PNG, brand">
            <a:extLst>
              <a:ext uri="{FF2B5EF4-FFF2-40B4-BE49-F238E27FC236}">
                <a16:creationId xmlns:a16="http://schemas.microsoft.com/office/drawing/2014/main" id="{5E7E846B-DC0E-002C-D21C-F21AC753223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00276" y="3757432"/>
            <a:ext cx="2625105" cy="1320797"/>
          </a:xfrm>
          <a:prstGeom prst="rect">
            <a:avLst/>
          </a:prstGeom>
          <a:noFill/>
          <a:extLst>
            <a:ext uri="{909E8E84-426E-40DD-AFC4-6F175D3DCCD1}">
              <a14:hiddenFill xmlns:a14="http://schemas.microsoft.com/office/drawing/2010/main">
                <a:solidFill>
                  <a:srgbClr val="FFFFFF"/>
                </a:solidFill>
              </a14:hiddenFill>
            </a:ext>
          </a:extLst>
        </p:spPr>
      </p:pic>
      <p:sp>
        <p:nvSpPr>
          <p:cNvPr id="21" name="Freeform 3">
            <a:extLst>
              <a:ext uri="{FF2B5EF4-FFF2-40B4-BE49-F238E27FC236}">
                <a16:creationId xmlns:a16="http://schemas.microsoft.com/office/drawing/2014/main" id="{B934729D-4501-4522-0EEC-64038E2B01F0}"/>
              </a:ext>
            </a:extLst>
          </p:cNvPr>
          <p:cNvSpPr/>
          <p:nvPr/>
        </p:nvSpPr>
        <p:spPr>
          <a:xfrm rot="2288834">
            <a:off x="8272572" y="-730517"/>
            <a:ext cx="5587511" cy="2749821"/>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fr-MA"/>
          </a:p>
        </p:txBody>
      </p:sp>
      <p:sp>
        <p:nvSpPr>
          <p:cNvPr id="22" name="Freeform 3">
            <a:extLst>
              <a:ext uri="{FF2B5EF4-FFF2-40B4-BE49-F238E27FC236}">
                <a16:creationId xmlns:a16="http://schemas.microsoft.com/office/drawing/2014/main" id="{E28522DD-7BDE-528C-03B3-0262BDCC61B7}"/>
              </a:ext>
            </a:extLst>
          </p:cNvPr>
          <p:cNvSpPr/>
          <p:nvPr/>
        </p:nvSpPr>
        <p:spPr>
          <a:xfrm rot="2288834">
            <a:off x="-1927270" y="4861014"/>
            <a:ext cx="5587511" cy="2749821"/>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fr-MA"/>
          </a:p>
        </p:txBody>
      </p:sp>
      <p:sp>
        <p:nvSpPr>
          <p:cNvPr id="2" name="Slide Number Placeholder 5">
            <a:extLst>
              <a:ext uri="{FF2B5EF4-FFF2-40B4-BE49-F238E27FC236}">
                <a16:creationId xmlns:a16="http://schemas.microsoft.com/office/drawing/2014/main" id="{1DD38A27-7854-61CC-AE7E-185C95E3F86B}"/>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16</a:t>
            </a:fld>
            <a:endParaRPr lang="fr-FR" sz="900" dirty="0">
              <a:solidFill>
                <a:schemeClr val="tx1">
                  <a:tint val="75000"/>
                </a:schemeClr>
              </a:solidFill>
            </a:endParaRPr>
          </a:p>
        </p:txBody>
      </p:sp>
    </p:spTree>
    <p:extLst>
      <p:ext uri="{BB962C8B-B14F-4D97-AF65-F5344CB8AC3E}">
        <p14:creationId xmlns:p14="http://schemas.microsoft.com/office/powerpoint/2010/main" val="4122148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99CAE-26B0-DA90-4EF9-A94172D589FC}"/>
            </a:ext>
          </a:extLst>
        </p:cNvPr>
        <p:cNvGrpSpPr/>
        <p:nvPr/>
      </p:nvGrpSpPr>
      <p:grpSpPr>
        <a:xfrm>
          <a:off x="0" y="0"/>
          <a:ext cx="0" cy="0"/>
          <a:chOff x="0" y="0"/>
          <a:chExt cx="0" cy="0"/>
        </a:xfrm>
      </p:grpSpPr>
      <p:sp>
        <p:nvSpPr>
          <p:cNvPr id="15" name="ZoneTexte 14">
            <a:extLst>
              <a:ext uri="{FF2B5EF4-FFF2-40B4-BE49-F238E27FC236}">
                <a16:creationId xmlns:a16="http://schemas.microsoft.com/office/drawing/2014/main" id="{4423C57A-D0C0-A6F9-56C7-5AEDEBEBF314}"/>
              </a:ext>
            </a:extLst>
          </p:cNvPr>
          <p:cNvSpPr txBox="1"/>
          <p:nvPr/>
        </p:nvSpPr>
        <p:spPr>
          <a:xfrm>
            <a:off x="2676008" y="1715351"/>
            <a:ext cx="7846395" cy="707886"/>
          </a:xfrm>
          <a:prstGeom prst="rect">
            <a:avLst/>
          </a:prstGeom>
          <a:noFill/>
        </p:spPr>
        <p:txBody>
          <a:bodyPr wrap="square">
            <a:spAutoFit/>
          </a:bodyPr>
          <a:lstStyle/>
          <a:p>
            <a:pPr algn="ctr"/>
            <a:r>
              <a:rPr lang="fr-MA" sz="4000" b="1" dirty="0">
                <a:solidFill>
                  <a:srgbClr val="343232"/>
                </a:solidFill>
                <a:latin typeface="Tenorite (Corps)"/>
              </a:rPr>
              <a:t>Technologies utilisées (Backend)</a:t>
            </a:r>
          </a:p>
        </p:txBody>
      </p:sp>
      <p:pic>
        <p:nvPicPr>
          <p:cNvPr id="2" name="Picture 2" descr="Laravel Logo PNG vector in SVG, PDF, AI, CDR format">
            <a:extLst>
              <a:ext uri="{FF2B5EF4-FFF2-40B4-BE49-F238E27FC236}">
                <a16:creationId xmlns:a16="http://schemas.microsoft.com/office/drawing/2014/main" id="{228C4C57-7378-73F5-50DF-2AE4284CF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9475" y="3147780"/>
            <a:ext cx="2033066" cy="152283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a:extLst>
              <a:ext uri="{FF2B5EF4-FFF2-40B4-BE49-F238E27FC236}">
                <a16:creationId xmlns:a16="http://schemas.microsoft.com/office/drawing/2014/main" id="{01174094-84AA-16CC-2961-F59CDED7A3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0874" y="3583545"/>
            <a:ext cx="1578624" cy="8512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MySQL icon SVG Vector &amp; PNG Free Download | UXWing">
            <a:extLst>
              <a:ext uri="{FF2B5EF4-FFF2-40B4-BE49-F238E27FC236}">
                <a16:creationId xmlns:a16="http://schemas.microsoft.com/office/drawing/2014/main" id="{1993BDAB-1448-7815-77ED-AA81EA76D4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0441" y="3180768"/>
            <a:ext cx="1403222" cy="109065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Nouveau logo de Pusher PNG transparents - StickPNG">
            <a:extLst>
              <a:ext uri="{FF2B5EF4-FFF2-40B4-BE49-F238E27FC236}">
                <a16:creationId xmlns:a16="http://schemas.microsoft.com/office/drawing/2014/main" id="{11AF3213-CD90-4951-7593-1C82BD40DB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34606" y="3535355"/>
            <a:ext cx="2443449" cy="947598"/>
          </a:xfrm>
          <a:prstGeom prst="rect">
            <a:avLst/>
          </a:prstGeom>
          <a:noFill/>
          <a:extLst>
            <a:ext uri="{909E8E84-426E-40DD-AFC4-6F175D3DCCD1}">
              <a14:hiddenFill xmlns:a14="http://schemas.microsoft.com/office/drawing/2010/main">
                <a:solidFill>
                  <a:srgbClr val="FFFFFF"/>
                </a:solidFill>
              </a14:hiddenFill>
            </a:ext>
          </a:extLst>
        </p:spPr>
      </p:pic>
      <p:sp>
        <p:nvSpPr>
          <p:cNvPr id="6" name="Freeform 3">
            <a:extLst>
              <a:ext uri="{FF2B5EF4-FFF2-40B4-BE49-F238E27FC236}">
                <a16:creationId xmlns:a16="http://schemas.microsoft.com/office/drawing/2014/main" id="{83A1E21A-05A2-98C3-17E0-369EA342F369}"/>
              </a:ext>
            </a:extLst>
          </p:cNvPr>
          <p:cNvSpPr/>
          <p:nvPr/>
        </p:nvSpPr>
        <p:spPr>
          <a:xfrm rot="2288834">
            <a:off x="8272572" y="-730517"/>
            <a:ext cx="5587511" cy="2749821"/>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MA"/>
          </a:p>
        </p:txBody>
      </p:sp>
      <p:sp>
        <p:nvSpPr>
          <p:cNvPr id="7" name="Freeform 3">
            <a:extLst>
              <a:ext uri="{FF2B5EF4-FFF2-40B4-BE49-F238E27FC236}">
                <a16:creationId xmlns:a16="http://schemas.microsoft.com/office/drawing/2014/main" id="{6A4D19E4-35E1-A8EB-BDCE-E30A9A95A98B}"/>
              </a:ext>
            </a:extLst>
          </p:cNvPr>
          <p:cNvSpPr/>
          <p:nvPr/>
        </p:nvSpPr>
        <p:spPr>
          <a:xfrm rot="2288834">
            <a:off x="-1747293" y="4556107"/>
            <a:ext cx="5587511" cy="3280560"/>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MA"/>
          </a:p>
        </p:txBody>
      </p:sp>
      <p:sp>
        <p:nvSpPr>
          <p:cNvPr id="8" name="Slide Number Placeholder 5">
            <a:extLst>
              <a:ext uri="{FF2B5EF4-FFF2-40B4-BE49-F238E27FC236}">
                <a16:creationId xmlns:a16="http://schemas.microsoft.com/office/drawing/2014/main" id="{59C23996-146D-3D87-2AFB-070EA843DE97}"/>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17</a:t>
            </a:fld>
            <a:endParaRPr lang="fr-FR" sz="900" dirty="0">
              <a:solidFill>
                <a:schemeClr val="tx1">
                  <a:tint val="75000"/>
                </a:schemeClr>
              </a:solidFill>
            </a:endParaRPr>
          </a:p>
        </p:txBody>
      </p:sp>
    </p:spTree>
    <p:extLst>
      <p:ext uri="{BB962C8B-B14F-4D97-AF65-F5344CB8AC3E}">
        <p14:creationId xmlns:p14="http://schemas.microsoft.com/office/powerpoint/2010/main" val="749736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04C08-2065-627A-A59F-8416694081BB}"/>
            </a:ext>
          </a:extLst>
        </p:cNvPr>
        <p:cNvGrpSpPr/>
        <p:nvPr/>
      </p:nvGrpSpPr>
      <p:grpSpPr>
        <a:xfrm>
          <a:off x="0" y="0"/>
          <a:ext cx="0" cy="0"/>
          <a:chOff x="0" y="0"/>
          <a:chExt cx="0" cy="0"/>
        </a:xfrm>
      </p:grpSpPr>
      <p:sp>
        <p:nvSpPr>
          <p:cNvPr id="7" name="ZoneTexte 6">
            <a:extLst>
              <a:ext uri="{FF2B5EF4-FFF2-40B4-BE49-F238E27FC236}">
                <a16:creationId xmlns:a16="http://schemas.microsoft.com/office/drawing/2014/main" id="{49CB89E2-96A8-7AD6-AAFE-ACF8C6133513}"/>
              </a:ext>
            </a:extLst>
          </p:cNvPr>
          <p:cNvSpPr txBox="1"/>
          <p:nvPr/>
        </p:nvSpPr>
        <p:spPr>
          <a:xfrm>
            <a:off x="2844799" y="1696700"/>
            <a:ext cx="7874000" cy="707886"/>
          </a:xfrm>
          <a:prstGeom prst="rect">
            <a:avLst/>
          </a:prstGeom>
          <a:noFill/>
        </p:spPr>
        <p:txBody>
          <a:bodyPr wrap="square">
            <a:spAutoFit/>
          </a:bodyPr>
          <a:lstStyle/>
          <a:p>
            <a:r>
              <a:rPr lang="fr-MA" sz="4000" b="1" dirty="0">
                <a:solidFill>
                  <a:srgbClr val="343232"/>
                </a:solidFill>
                <a:latin typeface="Tenorite (Corps)"/>
              </a:rPr>
              <a:t>Environnement de Développement</a:t>
            </a:r>
          </a:p>
        </p:txBody>
      </p:sp>
      <p:pic>
        <p:nvPicPr>
          <p:cNvPr id="8" name="Picture 2" descr="Visual Studio Code — Wikipédia">
            <a:extLst>
              <a:ext uri="{FF2B5EF4-FFF2-40B4-BE49-F238E27FC236}">
                <a16:creationId xmlns:a16="http://schemas.microsoft.com/office/drawing/2014/main" id="{57F3745D-C12D-1724-6D96-919701BB88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2767" y="3288828"/>
            <a:ext cx="1344153" cy="134415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BED30559-5C23-B126-8002-B6D808D7A8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0768" y="3569511"/>
            <a:ext cx="3450464" cy="89398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B3FB7A77-035D-E818-469B-2A9DEB1C24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2606" y="3416762"/>
            <a:ext cx="1886627" cy="1046733"/>
          </a:xfrm>
          <a:prstGeom prst="rect">
            <a:avLst/>
          </a:prstGeom>
          <a:noFill/>
          <a:extLst>
            <a:ext uri="{909E8E84-426E-40DD-AFC4-6F175D3DCCD1}">
              <a14:hiddenFill xmlns:a14="http://schemas.microsoft.com/office/drawing/2010/main">
                <a:solidFill>
                  <a:srgbClr val="FFFFFF"/>
                </a:solidFill>
              </a14:hiddenFill>
            </a:ext>
          </a:extLst>
        </p:spPr>
      </p:pic>
      <p:sp>
        <p:nvSpPr>
          <p:cNvPr id="11" name="Freeform 3">
            <a:extLst>
              <a:ext uri="{FF2B5EF4-FFF2-40B4-BE49-F238E27FC236}">
                <a16:creationId xmlns:a16="http://schemas.microsoft.com/office/drawing/2014/main" id="{CD724685-BE92-DBEA-C12C-35EB708B569E}"/>
              </a:ext>
            </a:extLst>
          </p:cNvPr>
          <p:cNvSpPr/>
          <p:nvPr/>
        </p:nvSpPr>
        <p:spPr>
          <a:xfrm rot="2288834">
            <a:off x="8272572" y="-730517"/>
            <a:ext cx="5587511" cy="2749821"/>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fr-MA"/>
          </a:p>
        </p:txBody>
      </p:sp>
      <p:sp>
        <p:nvSpPr>
          <p:cNvPr id="12" name="Freeform 3">
            <a:extLst>
              <a:ext uri="{FF2B5EF4-FFF2-40B4-BE49-F238E27FC236}">
                <a16:creationId xmlns:a16="http://schemas.microsoft.com/office/drawing/2014/main" id="{C842A332-B015-DB7C-C524-C5540E870CC1}"/>
              </a:ext>
            </a:extLst>
          </p:cNvPr>
          <p:cNvSpPr/>
          <p:nvPr/>
        </p:nvSpPr>
        <p:spPr>
          <a:xfrm rot="2288834">
            <a:off x="-1534423" y="4667431"/>
            <a:ext cx="5587511" cy="3246813"/>
          </a:xfrm>
          <a:custGeom>
            <a:avLst/>
            <a:gdLst/>
            <a:ahLst/>
            <a:cxnLst/>
            <a:rect l="l" t="t" r="r" b="b"/>
            <a:pathLst>
              <a:path w="7207452" h="4114800">
                <a:moveTo>
                  <a:pt x="0" y="0"/>
                </a:moveTo>
                <a:lnTo>
                  <a:pt x="7207452" y="0"/>
                </a:lnTo>
                <a:lnTo>
                  <a:pt x="720745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fr-MA"/>
          </a:p>
        </p:txBody>
      </p:sp>
      <p:sp>
        <p:nvSpPr>
          <p:cNvPr id="2" name="Slide Number Placeholder 5">
            <a:extLst>
              <a:ext uri="{FF2B5EF4-FFF2-40B4-BE49-F238E27FC236}">
                <a16:creationId xmlns:a16="http://schemas.microsoft.com/office/drawing/2014/main" id="{A7AED796-B1CB-3800-8935-A7FB9A6D636E}"/>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18</a:t>
            </a:fld>
            <a:endParaRPr lang="fr-FR" sz="900" dirty="0">
              <a:solidFill>
                <a:schemeClr val="tx1">
                  <a:tint val="75000"/>
                </a:schemeClr>
              </a:solidFill>
            </a:endParaRPr>
          </a:p>
        </p:txBody>
      </p:sp>
    </p:spTree>
    <p:extLst>
      <p:ext uri="{BB962C8B-B14F-4D97-AF65-F5344CB8AC3E}">
        <p14:creationId xmlns:p14="http://schemas.microsoft.com/office/powerpoint/2010/main" val="3921050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25A29-A10D-0C39-3BF2-2ABBAA84E04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467CDA9D-B9A5-4639-17BA-E6F1D4CB9FEC}"/>
              </a:ext>
            </a:extLst>
          </p:cNvPr>
          <p:cNvSpPr txBox="1"/>
          <p:nvPr/>
        </p:nvSpPr>
        <p:spPr>
          <a:xfrm>
            <a:off x="4169832" y="2143666"/>
            <a:ext cx="6104466" cy="707886"/>
          </a:xfrm>
          <a:prstGeom prst="rect">
            <a:avLst/>
          </a:prstGeom>
          <a:noFill/>
        </p:spPr>
        <p:txBody>
          <a:bodyPr wrap="square">
            <a:spAutoFit/>
          </a:bodyPr>
          <a:lstStyle/>
          <a:p>
            <a:r>
              <a:rPr lang="fr-MA" sz="4000" b="1" dirty="0">
                <a:solidFill>
                  <a:srgbClr val="343232"/>
                </a:solidFill>
                <a:latin typeface="Tenorite (Corps)"/>
              </a:rPr>
              <a:t>Démonstration</a:t>
            </a:r>
          </a:p>
        </p:txBody>
      </p:sp>
      <p:sp>
        <p:nvSpPr>
          <p:cNvPr id="7" name="Slide Number Placeholder 5">
            <a:extLst>
              <a:ext uri="{FF2B5EF4-FFF2-40B4-BE49-F238E27FC236}">
                <a16:creationId xmlns:a16="http://schemas.microsoft.com/office/drawing/2014/main" id="{4E053E4C-0740-B4FF-AC70-EDCD7F023BAD}"/>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19</a:t>
            </a:fld>
            <a:endParaRPr lang="fr-FR" sz="900" dirty="0">
              <a:solidFill>
                <a:schemeClr val="tx1">
                  <a:tint val="75000"/>
                </a:schemeClr>
              </a:solidFill>
            </a:endParaRPr>
          </a:p>
        </p:txBody>
      </p:sp>
    </p:spTree>
    <p:extLst>
      <p:ext uri="{BB962C8B-B14F-4D97-AF65-F5344CB8AC3E}">
        <p14:creationId xmlns:p14="http://schemas.microsoft.com/office/powerpoint/2010/main" val="4164717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7550-7527-5DC8-A3DC-85FDA4F37C22}"/>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9068AC9D-1709-4136-0D8F-E7122252AABE}"/>
              </a:ext>
            </a:extLst>
          </p:cNvPr>
          <p:cNvSpPr txBox="1"/>
          <p:nvPr/>
        </p:nvSpPr>
        <p:spPr>
          <a:xfrm>
            <a:off x="867833" y="1611217"/>
            <a:ext cx="6104466" cy="555730"/>
          </a:xfrm>
          <a:prstGeom prst="rect">
            <a:avLst/>
          </a:prstGeom>
          <a:noFill/>
        </p:spPr>
        <p:txBody>
          <a:bodyPr wrap="square">
            <a:spAutoFit/>
          </a:bodyPr>
          <a:lstStyle/>
          <a:p>
            <a:pPr marL="0" marR="0" lvl="0" indent="0" algn="l" defTabSz="914400" rtl="0" eaLnBrk="1" fontAlgn="auto" latinLnBrk="0" hangingPunct="1">
              <a:lnSpc>
                <a:spcPts val="3499"/>
              </a:lnSpc>
              <a:spcBef>
                <a:spcPts val="0"/>
              </a:spcBef>
              <a:spcAft>
                <a:spcPts val="0"/>
              </a:spcAft>
              <a:buClrTx/>
              <a:buSzTx/>
              <a:buFontTx/>
              <a:buNone/>
              <a:tabLst/>
              <a:defRPr/>
            </a:pPr>
            <a:r>
              <a:rPr lang="fr-MA" sz="4000" b="1" dirty="0">
                <a:solidFill>
                  <a:srgbClr val="343232"/>
                </a:solidFill>
                <a:latin typeface="Tenorite (Corps)"/>
              </a:rPr>
              <a:t>Conclusion</a:t>
            </a:r>
          </a:p>
        </p:txBody>
      </p:sp>
      <p:sp>
        <p:nvSpPr>
          <p:cNvPr id="5" name="ZoneTexte 4">
            <a:extLst>
              <a:ext uri="{FF2B5EF4-FFF2-40B4-BE49-F238E27FC236}">
                <a16:creationId xmlns:a16="http://schemas.microsoft.com/office/drawing/2014/main" id="{02344845-06F0-13F2-74E9-0EA6824395CF}"/>
              </a:ext>
            </a:extLst>
          </p:cNvPr>
          <p:cNvSpPr txBox="1"/>
          <p:nvPr/>
        </p:nvSpPr>
        <p:spPr>
          <a:xfrm>
            <a:off x="1629833" y="2478038"/>
            <a:ext cx="9211733" cy="707886"/>
          </a:xfrm>
          <a:prstGeom prst="rect">
            <a:avLst/>
          </a:prstGeom>
          <a:noFill/>
        </p:spPr>
        <p:txBody>
          <a:bodyPr wrap="square">
            <a:spAutoFit/>
          </a:bodyPr>
          <a:lstStyle/>
          <a:p>
            <a:pPr marL="342900" indent="-342900">
              <a:buFont typeface="Arial" panose="020B0604020202020204" pitchFamily="34" charset="0"/>
              <a:buChar char="•"/>
            </a:pPr>
            <a:r>
              <a:rPr lang="fr-FR" sz="2000" spc="50" dirty="0">
                <a:solidFill>
                  <a:schemeClr val="tx1">
                    <a:lumMod val="75000"/>
                    <a:lumOff val="25000"/>
                  </a:schemeClr>
                </a:solidFill>
              </a:rPr>
              <a:t>Objectif : développer une application de messagerie privée et sécurisée. </a:t>
            </a:r>
            <a:br>
              <a:rPr lang="fr-FR" sz="2000" spc="50" dirty="0">
                <a:solidFill>
                  <a:schemeClr val="tx1">
                    <a:lumMod val="75000"/>
                    <a:lumOff val="25000"/>
                  </a:schemeClr>
                </a:solidFill>
              </a:rPr>
            </a:br>
            <a:endParaRPr lang="fr-MA" sz="2000" spc="50" dirty="0">
              <a:solidFill>
                <a:schemeClr val="tx1">
                  <a:lumMod val="75000"/>
                  <a:lumOff val="25000"/>
                </a:schemeClr>
              </a:solidFill>
            </a:endParaRPr>
          </a:p>
        </p:txBody>
      </p:sp>
      <p:sp>
        <p:nvSpPr>
          <p:cNvPr id="7" name="ZoneTexte 6">
            <a:extLst>
              <a:ext uri="{FF2B5EF4-FFF2-40B4-BE49-F238E27FC236}">
                <a16:creationId xmlns:a16="http://schemas.microsoft.com/office/drawing/2014/main" id="{24AE858C-EC4F-C3F4-BF6F-42783A5FBDB1}"/>
              </a:ext>
            </a:extLst>
          </p:cNvPr>
          <p:cNvSpPr txBox="1"/>
          <p:nvPr/>
        </p:nvSpPr>
        <p:spPr>
          <a:xfrm>
            <a:off x="1629833" y="2921170"/>
            <a:ext cx="9538910" cy="1015663"/>
          </a:xfrm>
          <a:prstGeom prst="rect">
            <a:avLst/>
          </a:prstGeom>
          <a:noFill/>
        </p:spPr>
        <p:txBody>
          <a:bodyPr wrap="square">
            <a:spAutoFit/>
          </a:bodyPr>
          <a:lstStyle/>
          <a:p>
            <a:pPr marL="285750" indent="-285750">
              <a:buFont typeface="Arial" panose="020B0604020202020204" pitchFamily="34" charset="0"/>
              <a:buChar char="•"/>
            </a:pPr>
            <a:r>
              <a:rPr lang="fr-FR" sz="2000" spc="50" dirty="0">
                <a:solidFill>
                  <a:schemeClr val="tx1">
                    <a:lumMod val="75000"/>
                    <a:lumOff val="25000"/>
                  </a:schemeClr>
                </a:solidFill>
              </a:rPr>
              <a:t>Fonctionnalités clés : inscription, gestion des contacts, messagerie en temps réel, publications privées, groupes.</a:t>
            </a:r>
            <a:br>
              <a:rPr lang="fr-FR" sz="2000" spc="50" dirty="0">
                <a:solidFill>
                  <a:schemeClr val="tx1">
                    <a:lumMod val="75000"/>
                    <a:lumOff val="25000"/>
                  </a:schemeClr>
                </a:solidFill>
              </a:rPr>
            </a:br>
            <a:endParaRPr lang="fr-MA" sz="2000" spc="50" dirty="0">
              <a:solidFill>
                <a:schemeClr val="tx1">
                  <a:lumMod val="75000"/>
                  <a:lumOff val="25000"/>
                </a:schemeClr>
              </a:solidFill>
            </a:endParaRPr>
          </a:p>
        </p:txBody>
      </p:sp>
      <p:sp>
        <p:nvSpPr>
          <p:cNvPr id="9" name="ZoneTexte 8">
            <a:extLst>
              <a:ext uri="{FF2B5EF4-FFF2-40B4-BE49-F238E27FC236}">
                <a16:creationId xmlns:a16="http://schemas.microsoft.com/office/drawing/2014/main" id="{143BC163-830B-B74B-90A4-A9EAD76CBE4A}"/>
              </a:ext>
            </a:extLst>
          </p:cNvPr>
          <p:cNvSpPr txBox="1"/>
          <p:nvPr/>
        </p:nvSpPr>
        <p:spPr>
          <a:xfrm>
            <a:off x="1629833" y="3672077"/>
            <a:ext cx="6104466" cy="400110"/>
          </a:xfrm>
          <a:prstGeom prst="rect">
            <a:avLst/>
          </a:prstGeom>
          <a:noFill/>
        </p:spPr>
        <p:txBody>
          <a:bodyPr wrap="square">
            <a:spAutoFit/>
          </a:bodyPr>
          <a:lstStyle/>
          <a:p>
            <a:pPr marL="285750" indent="-285750">
              <a:buFont typeface="Arial" panose="020B0604020202020204" pitchFamily="34" charset="0"/>
              <a:buChar char="•"/>
            </a:pPr>
            <a:r>
              <a:rPr lang="fr-FR" sz="2000" spc="50" dirty="0">
                <a:solidFill>
                  <a:schemeClr val="tx1">
                    <a:lumMod val="75000"/>
                    <a:lumOff val="25000"/>
                  </a:schemeClr>
                </a:solidFill>
              </a:rPr>
              <a:t>Technologies : </a:t>
            </a:r>
            <a:r>
              <a:rPr lang="fr-FR" sz="2000" spc="50" dirty="0" err="1">
                <a:solidFill>
                  <a:schemeClr val="tx1">
                    <a:lumMod val="75000"/>
                    <a:lumOff val="25000"/>
                  </a:schemeClr>
                </a:solidFill>
              </a:rPr>
              <a:t>Laravel</a:t>
            </a:r>
            <a:r>
              <a:rPr lang="fr-FR" sz="2000" spc="50" dirty="0">
                <a:solidFill>
                  <a:schemeClr val="tx1">
                    <a:lumMod val="75000"/>
                    <a:lumOff val="25000"/>
                  </a:schemeClr>
                </a:solidFill>
              </a:rPr>
              <a:t>, MySQL, Pusher.</a:t>
            </a:r>
            <a:endParaRPr lang="fr-MA" sz="2000" spc="50" dirty="0">
              <a:solidFill>
                <a:schemeClr val="tx1">
                  <a:lumMod val="75000"/>
                  <a:lumOff val="25000"/>
                </a:schemeClr>
              </a:solidFill>
            </a:endParaRPr>
          </a:p>
        </p:txBody>
      </p:sp>
      <p:sp>
        <p:nvSpPr>
          <p:cNvPr id="10" name="Slide Number Placeholder 5">
            <a:extLst>
              <a:ext uri="{FF2B5EF4-FFF2-40B4-BE49-F238E27FC236}">
                <a16:creationId xmlns:a16="http://schemas.microsoft.com/office/drawing/2014/main" id="{5DE3DF49-5F4F-3B99-91C6-D25024F9190D}"/>
              </a:ext>
            </a:extLst>
          </p:cNvPr>
          <p:cNvSpPr txBox="1">
            <a:spLocks/>
          </p:cNvSpPr>
          <p:nvPr/>
        </p:nvSpPr>
        <p:spPr>
          <a:xfrm>
            <a:off x="8610600" y="6356350"/>
            <a:ext cx="2743200" cy="365125"/>
          </a:xfrm>
          <a:prstGeom prst="rect">
            <a:avLst/>
          </a:prstGeom>
        </p:spPr>
        <p:txBody>
          <a:bodyPr vert="horz" lIns="91440" tIns="45720" rIns="91440" bIns="45720" rtlCol="0" anchor="ctr">
            <a:normAutofit/>
          </a:bodyPr>
          <a:ls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B5CEABB6-07DC-46E8-9B57-56EC44A396E5}" type="slidenum">
              <a:rPr lang="fr-FR" sz="900" smtClean="0">
                <a:solidFill>
                  <a:schemeClr val="tx1">
                    <a:tint val="75000"/>
                  </a:schemeClr>
                </a:solidFill>
              </a:rPr>
              <a:pPr algn="r">
                <a:spcAft>
                  <a:spcPts val="600"/>
                </a:spcAft>
              </a:pPr>
              <a:t>20</a:t>
            </a:fld>
            <a:endParaRPr lang="fr-FR" sz="900" dirty="0">
              <a:solidFill>
                <a:schemeClr val="tx1">
                  <a:tint val="75000"/>
                </a:schemeClr>
              </a:solidFill>
            </a:endParaRPr>
          </a:p>
        </p:txBody>
      </p:sp>
    </p:spTree>
    <p:extLst>
      <p:ext uri="{BB962C8B-B14F-4D97-AF65-F5344CB8AC3E}">
        <p14:creationId xmlns:p14="http://schemas.microsoft.com/office/powerpoint/2010/main" val="2513988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DEC4-CA15-585B-5FCE-E433DE25F15D}"/>
            </a:ext>
          </a:extLst>
        </p:cNvPr>
        <p:cNvGrpSpPr/>
        <p:nvPr/>
      </p:nvGrpSpPr>
      <p:grpSpPr>
        <a:xfrm>
          <a:off x="0" y="0"/>
          <a:ext cx="0" cy="0"/>
          <a:chOff x="0" y="0"/>
          <a:chExt cx="0" cy="0"/>
        </a:xfrm>
      </p:grpSpPr>
      <p:sp>
        <p:nvSpPr>
          <p:cNvPr id="14" name="ZoneTexte 13">
            <a:extLst>
              <a:ext uri="{FF2B5EF4-FFF2-40B4-BE49-F238E27FC236}">
                <a16:creationId xmlns:a16="http://schemas.microsoft.com/office/drawing/2014/main" id="{0B842360-8E55-4732-7803-C344DC3C5405}"/>
              </a:ext>
            </a:extLst>
          </p:cNvPr>
          <p:cNvSpPr txBox="1"/>
          <p:nvPr/>
        </p:nvSpPr>
        <p:spPr>
          <a:xfrm>
            <a:off x="5473700" y="2871857"/>
            <a:ext cx="6104466" cy="707886"/>
          </a:xfrm>
          <a:prstGeom prst="rect">
            <a:avLst/>
          </a:prstGeom>
          <a:noFill/>
        </p:spPr>
        <p:txBody>
          <a:bodyPr wrap="square">
            <a:spAutoFit/>
          </a:bodyPr>
          <a:lstStyle/>
          <a:p>
            <a:r>
              <a:rPr lang="fr-MA" sz="4000" b="1" dirty="0">
                <a:solidFill>
                  <a:srgbClr val="343232"/>
                </a:solidFill>
                <a:latin typeface="Tenorite (Corps)"/>
              </a:rPr>
              <a:t>Merci pour votre attention</a:t>
            </a:r>
          </a:p>
        </p:txBody>
      </p:sp>
    </p:spTree>
    <p:extLst>
      <p:ext uri="{BB962C8B-B14F-4D97-AF65-F5344CB8AC3E}">
        <p14:creationId xmlns:p14="http://schemas.microsoft.com/office/powerpoint/2010/main" val="2481374049"/>
      </p:ext>
    </p:extLst>
  </p:cSld>
  <p:clrMapOvr>
    <a:masterClrMapping/>
  </p:clrMapOvr>
</p:sld>
</file>

<file path=ppt/theme/theme1.xml><?xml version="1.0" encoding="utf-8"?>
<a:theme xmlns:a="http://schemas.openxmlformats.org/drawingml/2006/main" name="Monolig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35_TF56180624_Win32" id="{86818CA5-A7A1-4A11-825D-121ACC2F2553}" vid="{B15E7544-D123-4273-B0AB-D8F961E44E2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BC90D6-94CF-42F7-AAC4-9CF6824C54D5}">
  <ds:schemaRefs>
    <ds:schemaRef ds:uri="http://schemas.microsoft.com/sharepoint/v3/contenttype/forms"/>
  </ds:schemaRefs>
</ds:datastoreItem>
</file>

<file path=customXml/itemProps3.xml><?xml version="1.0" encoding="utf-8"?>
<ds:datastoreItem xmlns:ds="http://schemas.openxmlformats.org/officeDocument/2006/customXml" ds:itemID="{7F97B18F-50BC-4F30-8373-93489E845F8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Argumentaire de vente clair et minimaliste</Template>
  <TotalTime>583</TotalTime>
  <Words>2052</Words>
  <Application>Microsoft Office PowerPoint</Application>
  <PresentationFormat>Grand écran</PresentationFormat>
  <Paragraphs>119</Paragraphs>
  <Slides>21</Slides>
  <Notes>21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21</vt:i4>
      </vt:variant>
    </vt:vector>
  </HeadingPairs>
  <TitlesOfParts>
    <vt:vector size="29" baseType="lpstr">
      <vt:lpstr>Arial</vt:lpstr>
      <vt:lpstr>Calibri</vt:lpstr>
      <vt:lpstr>Catchy Mager</vt:lpstr>
      <vt:lpstr>DM Serif Display</vt:lpstr>
      <vt:lpstr>Neue Machina</vt:lpstr>
      <vt:lpstr>Tenorite</vt:lpstr>
      <vt:lpstr>Tenorite (Corps)</vt:lpstr>
      <vt:lpstr>Monoligne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Dahbi Imane</dc:creator>
  <cp:lastModifiedBy>Dahbi Imane</cp:lastModifiedBy>
  <cp:revision>92</cp:revision>
  <dcterms:created xsi:type="dcterms:W3CDTF">2025-05-19T09:05:18Z</dcterms:created>
  <dcterms:modified xsi:type="dcterms:W3CDTF">2025-05-20T09:08:16Z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